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12192000"/>
  <p:notesSz cx="6858000" cy="9144000"/>
  <p:embeddedFontLst>
    <p:embeddedFont>
      <p:font typeface="Plus Jakarta Sans"/>
      <p:bold r:id="rId27"/>
      <p:boldItalic r:id="rId28"/>
    </p:embeddedFont>
    <p:embeddedFont>
      <p:font typeface="Plus Jakarta Sans SemiBold"/>
      <p:regular r:id="rId29"/>
      <p:bold r:id="rId30"/>
      <p:italic r:id="rId31"/>
      <p:boldItalic r:id="rId32"/>
    </p:embeddedFont>
    <p:embeddedFont>
      <p:font typeface="Spectral"/>
      <p:regular r:id="rId33"/>
      <p:bold r:id="rId34"/>
      <p:italic r:id="rId35"/>
      <p:boldItalic r:id="rId36"/>
    </p:embeddedFont>
    <p:embeddedFont>
      <p:font typeface="Space Grotesk"/>
      <p:regular r:id="rId37"/>
      <p:bold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4413C98-0C90-48F8-BC5E-262764F4E38D}">
  <a:tblStyle styleId="{D4413C98-0C90-48F8-BC5E-262764F4E38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912B96A-5AAA-43CE-870F-069EBCF6ED0E}"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lusJakartaSans-boldItalic.fntdata"/><Relationship Id="rId27" Type="http://schemas.openxmlformats.org/officeDocument/2006/relationships/font" Target="fonts/PlusJakarta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usJakartaSansSemiBold-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usJakartaSansSemiBold-italic.fntdata"/><Relationship Id="rId30" Type="http://schemas.openxmlformats.org/officeDocument/2006/relationships/font" Target="fonts/PlusJakartaSansSemiBold-bold.fntdata"/><Relationship Id="rId11" Type="http://schemas.openxmlformats.org/officeDocument/2006/relationships/slide" Target="slides/slide5.xml"/><Relationship Id="rId33" Type="http://schemas.openxmlformats.org/officeDocument/2006/relationships/font" Target="fonts/Spectral-regular.fntdata"/><Relationship Id="rId10" Type="http://schemas.openxmlformats.org/officeDocument/2006/relationships/slide" Target="slides/slide4.xml"/><Relationship Id="rId32" Type="http://schemas.openxmlformats.org/officeDocument/2006/relationships/font" Target="fonts/PlusJakartaSansSemiBold-boldItalic.fntdata"/><Relationship Id="rId13" Type="http://schemas.openxmlformats.org/officeDocument/2006/relationships/slide" Target="slides/slide7.xml"/><Relationship Id="rId35" Type="http://schemas.openxmlformats.org/officeDocument/2006/relationships/font" Target="fonts/Spectral-italic.fntdata"/><Relationship Id="rId12" Type="http://schemas.openxmlformats.org/officeDocument/2006/relationships/slide" Target="slides/slide6.xml"/><Relationship Id="rId34" Type="http://schemas.openxmlformats.org/officeDocument/2006/relationships/font" Target="fonts/Spectral-bold.fntdata"/><Relationship Id="rId15" Type="http://schemas.openxmlformats.org/officeDocument/2006/relationships/slide" Target="slides/slide9.xml"/><Relationship Id="rId37" Type="http://schemas.openxmlformats.org/officeDocument/2006/relationships/font" Target="fonts/SpaceGrotesk-regular.fntdata"/><Relationship Id="rId14" Type="http://schemas.openxmlformats.org/officeDocument/2006/relationships/slide" Target="slides/slide8.xml"/><Relationship Id="rId36" Type="http://schemas.openxmlformats.org/officeDocument/2006/relationships/font" Target="fonts/Spectral-boldItalic.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SpaceGrotesk-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h6c3d57a5a9b443c5_31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h6c3d57a5a9b443c5_31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32d6882f13550804_1_2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h32d6882f13550804_1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h32d6882f13550804_1_2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h32d6882f13550804_1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h32d6882f13550804_1_1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h32d6882f13550804_1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h6c3d57a5a9b443c5_9_0)">
  <p:cSld name="Generated (h6c3d57a5a9b443c5_9_0)">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39.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jpg"/><Relationship Id="rId4" Type="http://schemas.openxmlformats.org/officeDocument/2006/relationships/image" Target="../media/image87.jpg"/><Relationship Id="rId5" Type="http://schemas.openxmlformats.org/officeDocument/2006/relationships/image" Target="../media/image8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22.png"/><Relationship Id="rId9" Type="http://schemas.openxmlformats.org/officeDocument/2006/relationships/image" Target="../media/image8.jpg"/><Relationship Id="rId5" Type="http://schemas.openxmlformats.org/officeDocument/2006/relationships/image" Target="../media/image7.png"/><Relationship Id="rId6" Type="http://schemas.openxmlformats.org/officeDocument/2006/relationships/image" Target="../media/image9.png"/><Relationship Id="rId7" Type="http://schemas.openxmlformats.org/officeDocument/2006/relationships/image" Target="../media/image5.png"/><Relationship Id="rId8"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16.png"/><Relationship Id="rId7" Type="http://schemas.openxmlformats.org/officeDocument/2006/relationships/image" Target="../media/image10.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1" Type="http://schemas.openxmlformats.org/officeDocument/2006/relationships/image" Target="../media/image37.png"/><Relationship Id="rId10" Type="http://schemas.openxmlformats.org/officeDocument/2006/relationships/image" Target="../media/image26.png"/><Relationship Id="rId13" Type="http://schemas.openxmlformats.org/officeDocument/2006/relationships/image" Target="../media/image27.png"/><Relationship Id="rId12" Type="http://schemas.openxmlformats.org/officeDocument/2006/relationships/image" Target="../media/image48.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4.png"/><Relationship Id="rId9" Type="http://schemas.openxmlformats.org/officeDocument/2006/relationships/image" Target="../media/image20.png"/><Relationship Id="rId14" Type="http://schemas.openxmlformats.org/officeDocument/2006/relationships/image" Target="../media/image25.png"/><Relationship Id="rId5" Type="http://schemas.openxmlformats.org/officeDocument/2006/relationships/image" Target="../media/image15.png"/><Relationship Id="rId6" Type="http://schemas.openxmlformats.org/officeDocument/2006/relationships/image" Target="../media/image17.png"/><Relationship Id="rId7" Type="http://schemas.openxmlformats.org/officeDocument/2006/relationships/image" Target="../media/image23.png"/><Relationship Id="rId8"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35.png"/><Relationship Id="rId5" Type="http://schemas.openxmlformats.org/officeDocument/2006/relationships/image" Target="../media/image31.png"/><Relationship Id="rId6"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0.png"/><Relationship Id="rId4"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7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0" Type="http://schemas.openxmlformats.org/officeDocument/2006/relationships/image" Target="../media/image44.png"/><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1.png"/><Relationship Id="rId4" Type="http://schemas.openxmlformats.org/officeDocument/2006/relationships/image" Target="../media/image38.png"/><Relationship Id="rId9" Type="http://schemas.openxmlformats.org/officeDocument/2006/relationships/image" Target="../media/image43.png"/><Relationship Id="rId5" Type="http://schemas.openxmlformats.org/officeDocument/2006/relationships/image" Target="../media/image33.png"/><Relationship Id="rId6" Type="http://schemas.openxmlformats.org/officeDocument/2006/relationships/image" Target="../media/image40.png"/><Relationship Id="rId7" Type="http://schemas.openxmlformats.org/officeDocument/2006/relationships/image" Target="../media/image34.png"/><Relationship Id="rId8" Type="http://schemas.openxmlformats.org/officeDocument/2006/relationships/image" Target="../media/image6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0" Type="http://schemas.openxmlformats.org/officeDocument/2006/relationships/image" Target="../media/image54.jp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6.png"/><Relationship Id="rId4" Type="http://schemas.openxmlformats.org/officeDocument/2006/relationships/image" Target="../media/image45.png"/><Relationship Id="rId9" Type="http://schemas.openxmlformats.org/officeDocument/2006/relationships/image" Target="../media/image55.png"/><Relationship Id="rId5" Type="http://schemas.openxmlformats.org/officeDocument/2006/relationships/image" Target="../media/image51.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50.png"/></Relationships>
</file>

<file path=ppt/slides/_rels/slide14.xml.rels><?xml version="1.0" encoding="UTF-8" standalone="yes"?><Relationships xmlns="http://schemas.openxmlformats.org/package/2006/relationships"><Relationship Id="rId11" Type="http://schemas.openxmlformats.org/officeDocument/2006/relationships/image" Target="../media/image58.png"/><Relationship Id="rId10" Type="http://schemas.openxmlformats.org/officeDocument/2006/relationships/image" Target="../media/image74.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2.png"/><Relationship Id="rId4" Type="http://schemas.openxmlformats.org/officeDocument/2006/relationships/image" Target="../media/image57.png"/><Relationship Id="rId9" Type="http://schemas.openxmlformats.org/officeDocument/2006/relationships/image" Target="../media/image59.png"/><Relationship Id="rId5" Type="http://schemas.openxmlformats.org/officeDocument/2006/relationships/image" Target="../media/image53.png"/><Relationship Id="rId6" Type="http://schemas.openxmlformats.org/officeDocument/2006/relationships/image" Target="../media/image49.png"/><Relationship Id="rId7" Type="http://schemas.openxmlformats.org/officeDocument/2006/relationships/image" Target="../media/image56.png"/><Relationship Id="rId8" Type="http://schemas.openxmlformats.org/officeDocument/2006/relationships/image" Target="../media/image5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0.png"/><Relationship Id="rId4" Type="http://schemas.openxmlformats.org/officeDocument/2006/relationships/image" Target="../media/image63.png"/><Relationship Id="rId9" Type="http://schemas.openxmlformats.org/officeDocument/2006/relationships/image" Target="../media/image64.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70.png"/><Relationship Id="rId8" Type="http://schemas.openxmlformats.org/officeDocument/2006/relationships/image" Target="../media/image6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2.png"/><Relationship Id="rId4" Type="http://schemas.openxmlformats.org/officeDocument/2006/relationships/image" Target="../media/image79.png"/><Relationship Id="rId5" Type="http://schemas.openxmlformats.org/officeDocument/2006/relationships/image" Target="../media/image67.png"/><Relationship Id="rId6" Type="http://schemas.openxmlformats.org/officeDocument/2006/relationships/image" Target="../media/image80.png"/></Relationships>
</file>

<file path=ppt/slides/_rels/slide17.xml.rels><?xml version="1.0" encoding="UTF-8" standalone="yes"?><Relationships xmlns="http://schemas.openxmlformats.org/package/2006/relationships"><Relationship Id="rId11" Type="http://schemas.openxmlformats.org/officeDocument/2006/relationships/image" Target="../media/image76.png"/><Relationship Id="rId10" Type="http://schemas.openxmlformats.org/officeDocument/2006/relationships/image" Target="../media/image85.pn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0.png"/><Relationship Id="rId4" Type="http://schemas.openxmlformats.org/officeDocument/2006/relationships/image" Target="../media/image83.png"/><Relationship Id="rId9" Type="http://schemas.openxmlformats.org/officeDocument/2006/relationships/image" Target="../media/image73.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7.png"/><Relationship Id="rId8" Type="http://schemas.openxmlformats.org/officeDocument/2006/relationships/image" Target="../media/image7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88.png"/><Relationship Id="rId5" Type="http://schemas.openxmlformats.org/officeDocument/2006/relationships/image" Target="../media/image78.png"/><Relationship Id="rId6" Type="http://schemas.openxmlformats.org/officeDocument/2006/relationships/image" Target="../media/image8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4" name="Shape 84"/>
        <p:cNvGrpSpPr/>
        <p:nvPr/>
      </p:nvGrpSpPr>
      <p:grpSpPr>
        <a:xfrm>
          <a:off x="0" y="0"/>
          <a:ext cx="0" cy="0"/>
          <a:chOff x="0" y="0"/>
          <a:chExt cx="0" cy="0"/>
        </a:xfrm>
      </p:grpSpPr>
      <p:sp>
        <p:nvSpPr>
          <p:cNvPr id="85" name="Google Shape;85;p14"/>
          <p:cNvSpPr txBox="1"/>
          <p:nvPr/>
        </p:nvSpPr>
        <p:spPr>
          <a:xfrm>
            <a:off x="1590900" y="3220500"/>
            <a:ext cx="9010200" cy="417000"/>
          </a:xfrm>
          <a:prstGeom prst="rect">
            <a:avLst/>
          </a:prstGeom>
          <a:solidFill>
            <a:srgbClr val="000000">
              <a:alpha val="0"/>
            </a:srgbClr>
          </a:solidFill>
          <a:ln cap="flat" cmpd="sng" w="9525">
            <a:solidFill>
              <a:schemeClr val="dk1"/>
            </a:solidFill>
            <a:prstDash val="solid"/>
            <a:round/>
            <a:headEnd len="sm" w="sm" type="none"/>
            <a:tailEnd len="sm" w="sm" type="none"/>
          </a:ln>
          <a:effectLst>
            <a:reflection blurRad="0" dir="5400000" dist="38100" endA="0" fadeDir="5400012" kx="0" rotWithShape="0" algn="bl" stA="13000" stPos="0" sy="-100000" ky="0"/>
          </a:effectLst>
        </p:spPr>
        <p:txBody>
          <a:bodyPr anchorCtr="0" anchor="t" bIns="0" lIns="0" spcFirstLastPara="1" rIns="0" wrap="square" tIns="0">
            <a:noAutofit/>
          </a:bodyPr>
          <a:lstStyle/>
          <a:p>
            <a:pPr indent="0" lvl="0" marL="0" marR="0" rtl="0" algn="ctr">
              <a:spcBef>
                <a:spcPts val="0"/>
              </a:spcBef>
              <a:spcAft>
                <a:spcPts val="0"/>
              </a:spcAft>
              <a:buNone/>
            </a:pPr>
            <a:r>
              <a:rPr b="1" i="0" lang="en-US" sz="2700" u="none" cap="none" strike="noStrike">
                <a:solidFill>
                  <a:srgbClr val="FF0000"/>
                </a:solidFill>
                <a:highlight>
                  <a:srgbClr val="FFFFFF"/>
                </a:highlight>
                <a:latin typeface="Space Grotesk"/>
                <a:ea typeface="Space Grotesk"/>
                <a:cs typeface="Space Grotesk"/>
                <a:sym typeface="Space Grotesk"/>
              </a:rPr>
              <a:t>D. Y. PATIL INSTITUTE OF MAN</a:t>
            </a:r>
            <a:r>
              <a:rPr b="1" i="0" lang="en-US" sz="2700" u="none" cap="none" strike="noStrike">
                <a:solidFill>
                  <a:srgbClr val="FF0000"/>
                </a:solidFill>
                <a:highlight>
                  <a:srgbClr val="FFFFFF"/>
                </a:highlight>
                <a:latin typeface="Space Grotesk"/>
                <a:ea typeface="Space Grotesk"/>
                <a:cs typeface="Space Grotesk"/>
                <a:sym typeface="Space Grotesk"/>
              </a:rPr>
              <a:t>A</a:t>
            </a:r>
            <a:r>
              <a:rPr b="1" i="0" lang="en-US" sz="2700" u="none" cap="none" strike="noStrike">
                <a:solidFill>
                  <a:srgbClr val="FF0000"/>
                </a:solidFill>
                <a:highlight>
                  <a:srgbClr val="FFFFFF"/>
                </a:highlight>
                <a:latin typeface="Space Grotesk"/>
                <a:ea typeface="Space Grotesk"/>
                <a:cs typeface="Space Grotesk"/>
                <a:sym typeface="Space Grotesk"/>
              </a:rPr>
              <a:t>GEMENT &amp; TECHNOLOGY</a:t>
            </a:r>
            <a:endParaRPr b="1" sz="2000">
              <a:solidFill>
                <a:srgbClr val="FF0000"/>
              </a:solidFill>
              <a:highlight>
                <a:srgbClr val="FFFFFF"/>
              </a:highlight>
            </a:endParaRPr>
          </a:p>
        </p:txBody>
      </p:sp>
      <p:sp>
        <p:nvSpPr>
          <p:cNvPr id="86" name="Google Shape;86;p14"/>
          <p:cNvSpPr txBox="1"/>
          <p:nvPr/>
        </p:nvSpPr>
        <p:spPr>
          <a:xfrm>
            <a:off x="3276600" y="4899350"/>
            <a:ext cx="5638800" cy="1476900"/>
          </a:xfrm>
          <a:prstGeom prst="rect">
            <a:avLst/>
          </a:prstGeom>
          <a:solidFill>
            <a:srgbClr val="990000"/>
          </a:solidFill>
          <a:ln>
            <a:noFill/>
          </a:ln>
          <a:effectLst>
            <a:reflection blurRad="0" dir="5400000" dist="38100" endA="0" fadeDir="5400012" kx="0" rotWithShape="0" algn="bl" stA="0" stPos="0" sy="-100000" ky="0"/>
          </a:effectLst>
        </p:spPr>
        <p:txBody>
          <a:bodyPr anchorCtr="0" anchor="t" bIns="0" lIns="0" spcFirstLastPara="1" rIns="0" wrap="square" tIns="0">
            <a:noAutofit/>
          </a:bodyPr>
          <a:lstStyle/>
          <a:p>
            <a:pPr indent="0" lvl="0" marL="0" rtl="0" algn="ctr">
              <a:lnSpc>
                <a:spcPct val="119968"/>
              </a:lnSpc>
              <a:spcBef>
                <a:spcPts val="0"/>
              </a:spcBef>
              <a:spcAft>
                <a:spcPts val="0"/>
              </a:spcAft>
              <a:buNone/>
            </a:pPr>
            <a:r>
              <a:t/>
            </a:r>
            <a:endParaRPr b="1">
              <a:solidFill>
                <a:srgbClr val="FFFF00"/>
              </a:solidFill>
            </a:endParaRPr>
          </a:p>
          <a:p>
            <a:pPr indent="0" lvl="0" marL="0" marR="0" rtl="0" algn="ctr">
              <a:lnSpc>
                <a:spcPct val="119968"/>
              </a:lnSpc>
              <a:spcBef>
                <a:spcPts val="0"/>
              </a:spcBef>
              <a:spcAft>
                <a:spcPts val="0"/>
              </a:spcAft>
              <a:buNone/>
            </a:pPr>
            <a:r>
              <a:rPr b="1" i="0" lang="en-US" sz="3150" u="none" cap="none" strike="noStrike">
                <a:solidFill>
                  <a:srgbClr val="FFFF00"/>
                </a:solidFill>
                <a:latin typeface="Space Grotesk"/>
                <a:ea typeface="Space Grotesk"/>
                <a:cs typeface="Space Grotesk"/>
                <a:sym typeface="Space Grotesk"/>
              </a:rPr>
              <a:t>Advanced Database Design Concepts</a:t>
            </a:r>
            <a:r>
              <a:rPr b="1" i="0" lang="en-US" sz="3150" u="none" cap="none" strike="noStrike">
                <a:solidFill>
                  <a:srgbClr val="FFFF00"/>
                </a:solidFill>
                <a:latin typeface="Space Grotesk"/>
                <a:ea typeface="Space Grotesk"/>
                <a:cs typeface="Space Grotesk"/>
                <a:sym typeface="Space Grotesk"/>
              </a:rPr>
              <a:t> (ADDC)</a:t>
            </a:r>
            <a:endParaRPr b="1">
              <a:solidFill>
                <a:srgbClr val="FFFF00"/>
              </a:solidFill>
            </a:endParaRPr>
          </a:p>
        </p:txBody>
      </p:sp>
      <p:sp>
        <p:nvSpPr>
          <p:cNvPr id="87" name="Google Shape;87;p14"/>
          <p:cNvSpPr txBox="1"/>
          <p:nvPr/>
        </p:nvSpPr>
        <p:spPr>
          <a:xfrm>
            <a:off x="1470400" y="4133722"/>
            <a:ext cx="8771700" cy="269400"/>
          </a:xfrm>
          <a:prstGeom prst="rect">
            <a:avLst/>
          </a:prstGeom>
          <a:noFill/>
          <a:ln>
            <a:noFill/>
          </a:ln>
          <a:effectLst>
            <a:reflection blurRad="0" dir="5400000" dist="38100" endA="0" fadeDir="5400012" kx="0" rotWithShape="0" algn="bl" stA="13000" stPos="0" sy="-100000" ky="0"/>
          </a:effectLst>
        </p:spPr>
        <p:txBody>
          <a:bodyPr anchorCtr="0" anchor="t" bIns="0" lIns="0" spcFirstLastPara="1" rIns="0" wrap="square" tIns="0">
            <a:spAutoFit/>
          </a:bodyPr>
          <a:lstStyle/>
          <a:p>
            <a:pPr indent="0" lvl="0" marL="0" marR="0" rtl="0" algn="ctr">
              <a:spcBef>
                <a:spcPts val="0"/>
              </a:spcBef>
              <a:spcAft>
                <a:spcPts val="0"/>
              </a:spcAft>
              <a:buNone/>
            </a:pPr>
            <a:r>
              <a:rPr b="1" i="0" lang="en-US" sz="1750" u="none" cap="none" strike="noStrike">
                <a:solidFill>
                  <a:srgbClr val="B45309"/>
                </a:solidFill>
                <a:latin typeface="Space Grotesk"/>
                <a:ea typeface="Space Grotesk"/>
                <a:cs typeface="Space Grotesk"/>
                <a:sym typeface="Space Grotesk"/>
              </a:rPr>
              <a:t>REPRESENTED BY ROYAL GROUP</a:t>
            </a:r>
            <a:endParaRPr b="1" sz="1800">
              <a:solidFill>
                <a:srgbClr val="B45309"/>
              </a:solidFill>
            </a:endParaRPr>
          </a:p>
        </p:txBody>
      </p:sp>
      <p:pic>
        <p:nvPicPr>
          <p:cNvPr id="88" name="Google Shape;88;p14" title="images.jpeg"/>
          <p:cNvPicPr preferRelativeResize="0"/>
          <p:nvPr/>
        </p:nvPicPr>
        <p:blipFill rotWithShape="1">
          <a:blip r:embed="rId3">
            <a:alphaModFix/>
          </a:blip>
          <a:srcRect b="0" l="0" r="7647" t="0"/>
          <a:stretch/>
        </p:blipFill>
        <p:spPr>
          <a:xfrm>
            <a:off x="3445938" y="-758100"/>
            <a:ext cx="4820625" cy="4819700"/>
          </a:xfrm>
          <a:prstGeom prst="rect">
            <a:avLst/>
          </a:prstGeom>
          <a:noFill/>
          <a:ln>
            <a:noFill/>
          </a:ln>
          <a:effectLst>
            <a:reflection blurRad="0" dir="5400000" dist="171450" endA="0" endPos="1000" fadeDir="5400012" kx="0" rotWithShape="0" algn="bl" stA="0" stPos="0" sy="-100000" ky="0"/>
          </a:effectLst>
        </p:spPr>
      </p:pic>
      <p:sp>
        <p:nvSpPr>
          <p:cNvPr id="89" name="Google Shape;89;p14"/>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90" name="Google Shape;90;p14"/>
          <p:cNvSpPr txBox="1"/>
          <p:nvPr/>
        </p:nvSpPr>
        <p:spPr>
          <a:xfrm>
            <a:off x="1590900" y="3693660"/>
            <a:ext cx="8771700" cy="207900"/>
          </a:xfrm>
          <a:prstGeom prst="rect">
            <a:avLst/>
          </a:prstGeom>
          <a:noFill/>
          <a:ln>
            <a:noFill/>
          </a:ln>
          <a:effectLst>
            <a:reflection blurRad="0" dir="5400000" dist="38100" endA="0" fadeDir="5400012" kx="0" rotWithShape="0" algn="bl" stA="13000" stPos="0" sy="-100000" ky="0"/>
          </a:effectLst>
        </p:spPr>
        <p:txBody>
          <a:bodyPr anchorCtr="0" anchor="t" bIns="0" lIns="0" spcFirstLastPara="1" rIns="0" wrap="square" tIns="0">
            <a:spAutoFit/>
          </a:bodyPr>
          <a:lstStyle/>
          <a:p>
            <a:pPr indent="0" lvl="0" marL="0" marR="0" rtl="0" algn="ctr">
              <a:spcBef>
                <a:spcPts val="0"/>
              </a:spcBef>
              <a:spcAft>
                <a:spcPts val="0"/>
              </a:spcAft>
              <a:buNone/>
            </a:pPr>
            <a:r>
              <a:rPr b="1" lang="en-US" sz="1350">
                <a:solidFill>
                  <a:schemeClr val="dk1"/>
                </a:solidFill>
                <a:latin typeface="Space Grotesk"/>
                <a:ea typeface="Space Grotesk"/>
                <a:cs typeface="Space Grotesk"/>
                <a:sym typeface="Space Grotesk"/>
              </a:rPr>
              <a:t>Affiliated to Aryabhatt Knowledge University</a:t>
            </a:r>
            <a:endParaRPr b="1">
              <a:solidFill>
                <a:schemeClr val="dk1"/>
              </a:solidFill>
            </a:endParaRPr>
          </a:p>
        </p:txBody>
      </p:sp>
      <p:pic>
        <p:nvPicPr>
          <p:cNvPr id="91" name="Google Shape;91;p14"/>
          <p:cNvPicPr preferRelativeResize="0"/>
          <p:nvPr/>
        </p:nvPicPr>
        <p:blipFill>
          <a:blip r:embed="rId4">
            <a:alphaModFix/>
          </a:blip>
          <a:stretch>
            <a:fillRect/>
          </a:stretch>
        </p:blipFill>
        <p:spPr>
          <a:xfrm>
            <a:off x="555925" y="725913"/>
            <a:ext cx="2220251" cy="740075"/>
          </a:xfrm>
          <a:prstGeom prst="rect">
            <a:avLst/>
          </a:prstGeom>
          <a:noFill/>
          <a:ln>
            <a:noFill/>
          </a:ln>
        </p:spPr>
      </p:pic>
      <p:pic>
        <p:nvPicPr>
          <p:cNvPr id="92" name="Google Shape;92;p14"/>
          <p:cNvPicPr preferRelativeResize="0"/>
          <p:nvPr/>
        </p:nvPicPr>
        <p:blipFill>
          <a:blip r:embed="rId5">
            <a:alphaModFix/>
          </a:blip>
          <a:stretch>
            <a:fillRect/>
          </a:stretch>
        </p:blipFill>
        <p:spPr>
          <a:xfrm>
            <a:off x="10242100" y="725925"/>
            <a:ext cx="1187900" cy="998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88"/>
                                        </p:tgtEl>
                                        <p:attrNameLst>
                                          <p:attrName>style.visibility</p:attrName>
                                        </p:attrNameLst>
                                      </p:cBhvr>
                                      <p:to>
                                        <p:strVal val="visible"/>
                                      </p:to>
                                    </p:set>
                                    <p:anim calcmode="lin" valueType="num">
                                      <p:cBhvr additive="base">
                                        <p:cTn dur="1000"/>
                                        <p:tgtEl>
                                          <p:spTgt spid="88"/>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85"/>
                                        </p:tgtEl>
                                        <p:attrNameLst>
                                          <p:attrName>style.visibility</p:attrName>
                                        </p:attrNameLst>
                                      </p:cBhvr>
                                      <p:to>
                                        <p:strVal val="visible"/>
                                      </p:to>
                                    </p:set>
                                    <p:anim calcmode="lin" valueType="num">
                                      <p:cBhvr additive="base">
                                        <p:cTn dur="1000"/>
                                        <p:tgtEl>
                                          <p:spTgt spid="85"/>
                                        </p:tgtEl>
                                        <p:attrNameLst>
                                          <p:attrName>ppt_w</p:attrName>
                                        </p:attrNameLst>
                                      </p:cBhvr>
                                      <p:tavLst>
                                        <p:tav fmla="" tm="0">
                                          <p:val>
                                            <p:strVal val="0"/>
                                          </p:val>
                                        </p:tav>
                                        <p:tav fmla="" tm="100000">
                                          <p:val>
                                            <p:strVal val="#ppt_w"/>
                                          </p:val>
                                        </p:tav>
                                      </p:tavLst>
                                    </p:anim>
                                    <p:anim calcmode="lin" valueType="num">
                                      <p:cBhvr additive="base">
                                        <p:cTn dur="1000"/>
                                        <p:tgtEl>
                                          <p:spTgt spid="85"/>
                                        </p:tgtEl>
                                        <p:attrNameLst>
                                          <p:attrName>ppt_h</p:attrName>
                                        </p:attrNameLst>
                                      </p:cBhvr>
                                      <p:tavLst>
                                        <p:tav fmla="" tm="0">
                                          <p:val>
                                            <p:strVal val="0"/>
                                          </p:val>
                                        </p:tav>
                                        <p:tav fmla="" tm="100000">
                                          <p:val>
                                            <p:strVal val="#ppt_h"/>
                                          </p:val>
                                        </p:tav>
                                      </p:tavLst>
                                    </p:anim>
                                  </p:childTnLst>
                                </p:cTn>
                              </p:par>
                            </p:childTnLst>
                          </p:cTn>
                        </p:par>
                        <p:par>
                          <p:cTn fill="hold">
                            <p:stCondLst>
                              <p:cond delay="1000"/>
                            </p:stCondLst>
                            <p:childTnLst>
                              <p:par>
                                <p:cTn fill="hold" nodeType="afterEffect" presetClass="entr" presetID="23" presetSubtype="16">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anim calcmode="lin" valueType="num">
                                      <p:cBhvr additive="base">
                                        <p:cTn dur="1000"/>
                                        <p:tgtEl>
                                          <p:spTgt spid="87">
                                            <p:txEl>
                                              <p:pRg end="0" st="0"/>
                                            </p:txEl>
                                          </p:spTgt>
                                        </p:tgtEl>
                                        <p:attrNameLst>
                                          <p:attrName>ppt_w</p:attrName>
                                        </p:attrNameLst>
                                      </p:cBhvr>
                                      <p:tavLst>
                                        <p:tav fmla="" tm="0">
                                          <p:val>
                                            <p:strVal val="0"/>
                                          </p:val>
                                        </p:tav>
                                        <p:tav fmla="" tm="100000">
                                          <p:val>
                                            <p:strVal val="#ppt_w"/>
                                          </p:val>
                                        </p:tav>
                                      </p:tavLst>
                                    </p:anim>
                                    <p:anim calcmode="lin" valueType="num">
                                      <p:cBhvr additive="base">
                                        <p:cTn dur="1000"/>
                                        <p:tgtEl>
                                          <p:spTgt spid="87">
                                            <p:txEl>
                                              <p:pRg end="0" st="0"/>
                                            </p:txEl>
                                          </p:spTgt>
                                        </p:tgtEl>
                                        <p:attrNameLst>
                                          <p:attrName>ppt_h</p:attrName>
                                        </p:attrNameLst>
                                      </p:cBhvr>
                                      <p:tavLst>
                                        <p:tav fmla="" tm="0">
                                          <p:val>
                                            <p:strVal val="0"/>
                                          </p:val>
                                        </p:tav>
                                        <p:tav fmla="" tm="100000">
                                          <p:val>
                                            <p:strVal val="#ppt_h"/>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86"/>
                                        </p:tgtEl>
                                        <p:attrNameLst>
                                          <p:attrName>style.visibility</p:attrName>
                                        </p:attrNameLst>
                                      </p:cBhvr>
                                      <p:to>
                                        <p:strVal val="visible"/>
                                      </p:to>
                                    </p:set>
                                    <p:anim calcmode="lin" valueType="num">
                                      <p:cBhvr additive="base">
                                        <p:cTn dur="1000"/>
                                        <p:tgtEl>
                                          <p:spTgt spid="86"/>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par>
                                <p:cTn fill="hold" nodeType="with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1000"/>
                                        <p:tgtEl>
                                          <p:spTgt spid="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 name="Shape 96"/>
        <p:cNvGrpSpPr/>
        <p:nvPr/>
      </p:nvGrpSpPr>
      <p:grpSpPr>
        <a:xfrm>
          <a:off x="0" y="0"/>
          <a:ext cx="0" cy="0"/>
          <a:chOff x="0" y="0"/>
          <a:chExt cx="0" cy="0"/>
        </a:xfrm>
      </p:grpSpPr>
      <p:sp>
        <p:nvSpPr>
          <p:cNvPr id="97" name="Google Shape;97;p15"/>
          <p:cNvSpPr txBox="1"/>
          <p:nvPr/>
        </p:nvSpPr>
        <p:spPr>
          <a:xfrm>
            <a:off x="609600" y="762000"/>
            <a:ext cx="109728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3000">
                <a:solidFill>
                  <a:srgbClr val="0F172A"/>
                </a:solidFill>
                <a:latin typeface="Plus Jakarta Sans"/>
                <a:ea typeface="Plus Jakarta Sans"/>
                <a:cs typeface="Plus Jakarta Sans"/>
                <a:sym typeface="Plus Jakarta Sans"/>
              </a:rPr>
              <a:t>Acknowledgement</a:t>
            </a:r>
            <a:endParaRPr b="1" sz="3000">
              <a:solidFill>
                <a:srgbClr val="0F172A"/>
              </a:solidFill>
              <a:latin typeface="Plus Jakarta Sans"/>
              <a:ea typeface="Plus Jakarta Sans"/>
              <a:cs typeface="Plus Jakarta Sans"/>
              <a:sym typeface="Plus Jakarta Sans"/>
            </a:endParaRPr>
          </a:p>
        </p:txBody>
      </p:sp>
      <p:sp>
        <p:nvSpPr>
          <p:cNvPr id="98" name="Google Shape;98;p15"/>
          <p:cNvSpPr/>
          <p:nvPr/>
        </p:nvSpPr>
        <p:spPr>
          <a:xfrm>
            <a:off x="609600" y="1524000"/>
            <a:ext cx="10972800" cy="4572000"/>
          </a:xfrm>
          <a:prstGeom prst="roundRect">
            <a:avLst>
              <a:gd fmla="val 4583" name="adj"/>
            </a:avLst>
          </a:prstGeom>
          <a:solidFill>
            <a:srgbClr val="FAFBFD"/>
          </a:solidFill>
          <a:ln cap="flat" cmpd="sng" w="9525">
            <a:solidFill>
              <a:srgbClr val="FEFE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9" name="Google Shape;99;p15"/>
          <p:cNvSpPr/>
          <p:nvPr/>
        </p:nvSpPr>
        <p:spPr>
          <a:xfrm>
            <a:off x="1219200" y="4572000"/>
            <a:ext cx="9753600" cy="1143000"/>
          </a:xfrm>
          <a:prstGeom prst="roundRect">
            <a:avLst>
              <a:gd fmla="val 13333"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1219200" y="1762200"/>
            <a:ext cx="9753600" cy="2286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550">
                <a:solidFill>
                  <a:srgbClr val="334155"/>
                </a:solidFill>
                <a:latin typeface="Plus Jakarta Sans"/>
                <a:ea typeface="Plus Jakarta Sans"/>
                <a:cs typeface="Plus Jakarta Sans"/>
                <a:sym typeface="Plus Jakarta Sans"/>
              </a:rPr>
              <a:t>We express our sincere gratitude to </a:t>
            </a:r>
            <a:r>
              <a:rPr b="1" lang="en-US" sz="1550">
                <a:solidFill>
                  <a:srgbClr val="0F172A"/>
                </a:solidFill>
                <a:latin typeface="Plus Jakarta Sans"/>
                <a:ea typeface="Plus Jakarta Sans"/>
                <a:cs typeface="Plus Jakarta Sans"/>
                <a:sym typeface="Plus Jakarta Sans"/>
              </a:rPr>
              <a:t>Dr. Sachin Bhaskar</a:t>
            </a:r>
            <a:r>
              <a:rPr b="0" lang="en-US" sz="1550">
                <a:solidFill>
                  <a:srgbClr val="334155"/>
                </a:solidFill>
                <a:latin typeface="Plus Jakarta Sans"/>
                <a:ea typeface="Plus Jakarta Sans"/>
                <a:cs typeface="Plus Jakarta Sans"/>
                <a:sym typeface="Plus Jakarta Sans"/>
              </a:rPr>
              <a:t>, Principal of D. Y. Patil Institute of Management and Technology, for his visionary leadership, continuous encouragement, and unwavering support throughout the course of this work.</a:t>
            </a:r>
            <a:endParaRPr b="0" sz="1550">
              <a:solidFill>
                <a:srgbClr val="334155"/>
              </a:solidFill>
              <a:latin typeface="Plus Jakarta Sans"/>
              <a:ea typeface="Plus Jakarta Sans"/>
              <a:cs typeface="Plus Jakarta Sans"/>
              <a:sym typeface="Plus Jakarta Sans"/>
            </a:endParaRPr>
          </a:p>
          <a:p>
            <a:pPr indent="0" lvl="0" marL="0" rtl="0" algn="l">
              <a:spcBef>
                <a:spcPts val="1200"/>
              </a:spcBef>
              <a:spcAft>
                <a:spcPts val="0"/>
              </a:spcAft>
              <a:buNone/>
            </a:pPr>
            <a:r>
              <a:rPr b="0" lang="en-US" sz="1550">
                <a:solidFill>
                  <a:srgbClr val="334155"/>
                </a:solidFill>
                <a:latin typeface="Plus Jakarta Sans"/>
                <a:ea typeface="Plus Jakarta Sans"/>
                <a:cs typeface="Plus Jakarta Sans"/>
                <a:sym typeface="Plus Jakarta Sans"/>
              </a:rPr>
              <a:t>His guidance and inspiring academic environment have played a pivotal role in enabling us to explore, design, and present these Advanced Database Design Concepts (ADDC).</a:t>
            </a:r>
            <a:endParaRPr b="0" sz="1550">
              <a:solidFill>
                <a:srgbClr val="334155"/>
              </a:solidFill>
              <a:latin typeface="Plus Jakarta Sans"/>
              <a:ea typeface="Plus Jakarta Sans"/>
              <a:cs typeface="Plus Jakarta Sans"/>
              <a:sym typeface="Plus Jakarta Sans"/>
            </a:endParaRPr>
          </a:p>
        </p:txBody>
      </p:sp>
      <p:grpSp>
        <p:nvGrpSpPr>
          <p:cNvPr id="101" name="Google Shape;101;p15"/>
          <p:cNvGrpSpPr/>
          <p:nvPr/>
        </p:nvGrpSpPr>
        <p:grpSpPr>
          <a:xfrm>
            <a:off x="1524000" y="4810125"/>
            <a:ext cx="9144000" cy="571575"/>
            <a:chOff x="1524000" y="4810125"/>
            <a:chExt cx="9144000" cy="571575"/>
          </a:xfrm>
        </p:grpSpPr>
        <p:sp>
          <p:nvSpPr>
            <p:cNvPr id="102" name="Google Shape;102;p15"/>
            <p:cNvSpPr txBox="1"/>
            <p:nvPr/>
          </p:nvSpPr>
          <p:spPr>
            <a:xfrm>
              <a:off x="1524000" y="4810125"/>
              <a:ext cx="9144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F172A"/>
                  </a:solidFill>
                  <a:latin typeface="Plus Jakarta Sans"/>
                  <a:ea typeface="Plus Jakarta Sans"/>
                  <a:cs typeface="Plus Jakarta Sans"/>
                  <a:sym typeface="Plus Jakarta Sans"/>
                </a:rPr>
                <a:t>Dr. Sachin Bhaskar</a:t>
              </a:r>
              <a:endParaRPr b="1" sz="1800">
                <a:solidFill>
                  <a:srgbClr val="0F172A"/>
                </a:solidFill>
                <a:latin typeface="Plus Jakarta Sans"/>
                <a:ea typeface="Plus Jakarta Sans"/>
                <a:cs typeface="Plus Jakarta Sans"/>
                <a:sym typeface="Plus Jakarta Sans"/>
              </a:endParaRPr>
            </a:p>
          </p:txBody>
        </p:sp>
        <p:sp>
          <p:nvSpPr>
            <p:cNvPr id="103" name="Google Shape;103;p15"/>
            <p:cNvSpPr txBox="1"/>
            <p:nvPr/>
          </p:nvSpPr>
          <p:spPr>
            <a:xfrm>
              <a:off x="1524000" y="5143500"/>
              <a:ext cx="9144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B91C1C"/>
                  </a:solidFill>
                  <a:latin typeface="Plus Jakarta Sans"/>
                  <a:ea typeface="Plus Jakarta Sans"/>
                  <a:cs typeface="Plus Jakarta Sans"/>
                  <a:sym typeface="Plus Jakarta Sans"/>
                </a:rPr>
                <a:t>Principal, D. Y. Patil Institute of Management &amp; Technology</a:t>
              </a:r>
              <a:endParaRPr b="1" sz="1200">
                <a:solidFill>
                  <a:srgbClr val="B91C1C"/>
                </a:solidFill>
                <a:latin typeface="Plus Jakarta Sans"/>
                <a:ea typeface="Plus Jakarta Sans"/>
                <a:cs typeface="Plus Jakarta Sans"/>
                <a:sym typeface="Plus Jakarta Sans"/>
              </a:endParaRPr>
            </a:p>
          </p:txBody>
        </p:sp>
      </p:grpSp>
      <p:sp>
        <p:nvSpPr>
          <p:cNvPr id="104" name="Google Shape;104;p15"/>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pic>
        <p:nvPicPr>
          <p:cNvPr id="105" name="Google Shape;105;p15"/>
          <p:cNvPicPr preferRelativeResize="0"/>
          <p:nvPr/>
        </p:nvPicPr>
        <p:blipFill rotWithShape="1">
          <a:blip r:embed="rId4">
            <a:alphaModFix/>
          </a:blip>
          <a:srcRect b="0" l="0" r="0" t="26573"/>
          <a:stretch/>
        </p:blipFill>
        <p:spPr>
          <a:xfrm>
            <a:off x="1621291" y="3429000"/>
            <a:ext cx="1070185" cy="10477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9" name="Shape 109"/>
        <p:cNvGrpSpPr/>
        <p:nvPr/>
      </p:nvGrpSpPr>
      <p:grpSpPr>
        <a:xfrm>
          <a:off x="0" y="0"/>
          <a:ext cx="0" cy="0"/>
          <a:chOff x="0" y="0"/>
          <a:chExt cx="0" cy="0"/>
        </a:xfrm>
      </p:grpSpPr>
      <p:sp>
        <p:nvSpPr>
          <p:cNvPr id="110" name="Google Shape;110;p16"/>
          <p:cNvSpPr/>
          <p:nvPr/>
        </p:nvSpPr>
        <p:spPr>
          <a:xfrm>
            <a:off x="609600" y="2490787"/>
            <a:ext cx="3454449" cy="2695575"/>
          </a:xfrm>
          <a:prstGeom prst="roundRect">
            <a:avLst>
              <a:gd fmla="val 777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6"/>
          <p:cNvSpPr/>
          <p:nvPr/>
        </p:nvSpPr>
        <p:spPr>
          <a:xfrm>
            <a:off x="4368849" y="2490787"/>
            <a:ext cx="3454449" cy="2695575"/>
          </a:xfrm>
          <a:prstGeom prst="roundRect">
            <a:avLst>
              <a:gd fmla="val 777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6"/>
          <p:cNvSpPr/>
          <p:nvPr/>
        </p:nvSpPr>
        <p:spPr>
          <a:xfrm>
            <a:off x="8128099" y="2490787"/>
            <a:ext cx="3454449" cy="2695575"/>
          </a:xfrm>
          <a:prstGeom prst="roundRect">
            <a:avLst>
              <a:gd fmla="val 777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6"/>
          <p:cNvSpPr/>
          <p:nvPr/>
        </p:nvSpPr>
        <p:spPr>
          <a:xfrm>
            <a:off x="609600" y="2490787"/>
            <a:ext cx="3435400" cy="2676525"/>
          </a:xfrm>
          <a:prstGeom prst="roundRect">
            <a:avLst>
              <a:gd fmla="val 78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6"/>
          <p:cNvSpPr/>
          <p:nvPr/>
        </p:nvSpPr>
        <p:spPr>
          <a:xfrm>
            <a:off x="1670000" y="4291012"/>
            <a:ext cx="1333500" cy="247650"/>
          </a:xfrm>
          <a:prstGeom prst="roundRect">
            <a:avLst>
              <a:gd fmla="val 50000" name="adj"/>
            </a:avLst>
          </a:prstGeom>
          <a:solidFill>
            <a:srgbClr val="EEF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6"/>
          <p:cNvSpPr/>
          <p:nvPr/>
        </p:nvSpPr>
        <p:spPr>
          <a:xfrm>
            <a:off x="4368849" y="2490787"/>
            <a:ext cx="3435400" cy="2676525"/>
          </a:xfrm>
          <a:prstGeom prst="roundRect">
            <a:avLst>
              <a:gd fmla="val 78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 name="Google Shape;116;p16"/>
          <p:cNvSpPr/>
          <p:nvPr/>
        </p:nvSpPr>
        <p:spPr>
          <a:xfrm>
            <a:off x="5419725" y="4291012"/>
            <a:ext cx="1352550" cy="247650"/>
          </a:xfrm>
          <a:prstGeom prst="roundRect">
            <a:avLst>
              <a:gd fmla="val 50000" name="adj"/>
            </a:avLst>
          </a:prstGeom>
          <a:solidFill>
            <a:srgbClr val="ECFE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6"/>
          <p:cNvSpPr/>
          <p:nvPr/>
        </p:nvSpPr>
        <p:spPr>
          <a:xfrm>
            <a:off x="8128099" y="2490787"/>
            <a:ext cx="3435400" cy="2676525"/>
          </a:xfrm>
          <a:prstGeom prst="roundRect">
            <a:avLst>
              <a:gd fmla="val 78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16"/>
          <p:cNvSpPr/>
          <p:nvPr/>
        </p:nvSpPr>
        <p:spPr>
          <a:xfrm>
            <a:off x="9174212" y="4291012"/>
            <a:ext cx="1362075" cy="247650"/>
          </a:xfrm>
          <a:prstGeom prst="roundRect">
            <a:avLst>
              <a:gd fmla="val 50000" name="adj"/>
            </a:avLst>
          </a:prstGeom>
          <a:solidFill>
            <a:srgbClr val="FFFB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16"/>
          <p:cNvSpPr txBox="1"/>
          <p:nvPr/>
        </p:nvSpPr>
        <p:spPr>
          <a:xfrm>
            <a:off x="-371475" y="1086625"/>
            <a:ext cx="9675300" cy="392400"/>
          </a:xfrm>
          <a:prstGeom prst="rect">
            <a:avLst/>
          </a:prstGeom>
          <a:noFill/>
          <a:ln>
            <a:noFill/>
          </a:ln>
          <a:effectLst>
            <a:reflection blurRad="0" dir="5400000" dist="38100" endA="0" fadeDir="5400012" kx="0" rotWithShape="0" algn="bl" stA="0" stPos="0" sy="-100000" ky="0"/>
          </a:effectLst>
        </p:spPr>
        <p:txBody>
          <a:bodyPr anchorCtr="0" anchor="t" bIns="0" lIns="0" spcFirstLastPara="1" rIns="0" wrap="square" tIns="0">
            <a:spAutoFit/>
          </a:bodyPr>
          <a:lstStyle/>
          <a:p>
            <a:pPr indent="0" lvl="0" marL="5029200" marR="0" rtl="0" algn="l">
              <a:spcBef>
                <a:spcPts val="0"/>
              </a:spcBef>
              <a:spcAft>
                <a:spcPts val="0"/>
              </a:spcAft>
              <a:buNone/>
            </a:pPr>
            <a:r>
              <a:rPr b="1" i="0" lang="en-US" sz="2550" u="none" cap="none" strike="noStrike">
                <a:solidFill>
                  <a:srgbClr val="B91C1C"/>
                </a:solidFill>
                <a:latin typeface="Space Grotesk"/>
                <a:ea typeface="Space Grotesk"/>
                <a:cs typeface="Space Grotesk"/>
                <a:sym typeface="Space Grotesk"/>
              </a:rPr>
              <a:t>PRESENTING TEAM</a:t>
            </a:r>
            <a:endParaRPr sz="2900">
              <a:solidFill>
                <a:srgbClr val="B91C1C"/>
              </a:solidFill>
            </a:endParaRPr>
          </a:p>
        </p:txBody>
      </p:sp>
      <p:sp>
        <p:nvSpPr>
          <p:cNvPr id="120" name="Google Shape;120;p16"/>
          <p:cNvSpPr txBox="1"/>
          <p:nvPr/>
        </p:nvSpPr>
        <p:spPr>
          <a:xfrm>
            <a:off x="1249114" y="3986212"/>
            <a:ext cx="2175300" cy="5079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50">
                <a:solidFill>
                  <a:srgbClr val="0F172A"/>
                </a:solidFill>
                <a:latin typeface="Plus Jakarta Sans"/>
                <a:ea typeface="Plus Jakarta Sans"/>
                <a:cs typeface="Plus Jakarta Sans"/>
                <a:sym typeface="Plus Jakarta Sans"/>
              </a:rPr>
              <a:t>Suraj Kumar</a:t>
            </a:r>
            <a:endParaRPr b="1" sz="1650">
              <a:solidFill>
                <a:srgbClr val="0F172A"/>
              </a:solidFill>
              <a:latin typeface="Plus Jakarta Sans"/>
              <a:ea typeface="Plus Jakarta Sans"/>
              <a:cs typeface="Plus Jakarta Sans"/>
              <a:sym typeface="Plus Jakarta Sans"/>
            </a:endParaRPr>
          </a:p>
          <a:p>
            <a:pPr indent="0" lvl="0" marL="0" marR="0" rtl="0" algn="l">
              <a:spcBef>
                <a:spcPts val="0"/>
              </a:spcBef>
              <a:spcAft>
                <a:spcPts val="0"/>
              </a:spcAft>
              <a:buNone/>
            </a:pPr>
            <a:r>
              <a:t/>
            </a:r>
            <a:endParaRPr b="1" sz="1650">
              <a:solidFill>
                <a:srgbClr val="0F172A"/>
              </a:solidFill>
              <a:latin typeface="Plus Jakarta Sans"/>
              <a:ea typeface="Plus Jakarta Sans"/>
              <a:cs typeface="Plus Jakarta Sans"/>
              <a:sym typeface="Plus Jakarta Sans"/>
            </a:endParaRPr>
          </a:p>
        </p:txBody>
      </p:sp>
      <p:sp>
        <p:nvSpPr>
          <p:cNvPr id="121" name="Google Shape;121;p16"/>
          <p:cNvSpPr txBox="1"/>
          <p:nvPr/>
        </p:nvSpPr>
        <p:spPr>
          <a:xfrm>
            <a:off x="1636662" y="4329112"/>
            <a:ext cx="1400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4F46E5"/>
                </a:solidFill>
                <a:latin typeface="Plus Jakarta Sans"/>
                <a:ea typeface="Plus Jakarta Sans"/>
                <a:cs typeface="Plus Jakarta Sans"/>
                <a:sym typeface="Plus Jakarta Sans"/>
              </a:rPr>
              <a:t>Roll No: </a:t>
            </a:r>
            <a:r>
              <a:rPr b="1" lang="en-US" sz="1050">
                <a:solidFill>
                  <a:srgbClr val="4F46E5"/>
                </a:solidFill>
                <a:latin typeface="Plus Jakarta Sans"/>
                <a:ea typeface="Plus Jakarta Sans"/>
                <a:cs typeface="Plus Jakarta Sans"/>
                <a:sym typeface="Plus Jakarta Sans"/>
              </a:rPr>
              <a:t>32600426</a:t>
            </a:r>
            <a:endParaRPr/>
          </a:p>
        </p:txBody>
      </p:sp>
      <p:sp>
        <p:nvSpPr>
          <p:cNvPr id="122" name="Google Shape;122;p16"/>
          <p:cNvSpPr txBox="1"/>
          <p:nvPr/>
        </p:nvSpPr>
        <p:spPr>
          <a:xfrm>
            <a:off x="973484" y="4652962"/>
            <a:ext cx="27264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25">
                <a:solidFill>
                  <a:srgbClr val="64748B"/>
                </a:solidFill>
                <a:latin typeface="Plus Jakarta Sans"/>
                <a:ea typeface="Plus Jakarta Sans"/>
                <a:cs typeface="Plus Jakarta Sans"/>
                <a:sym typeface="Plus Jakarta Sans"/>
              </a:rPr>
              <a:t>Graphic &amp; Animation</a:t>
            </a:r>
            <a:endParaRPr/>
          </a:p>
        </p:txBody>
      </p:sp>
      <p:sp>
        <p:nvSpPr>
          <p:cNvPr id="123" name="Google Shape;123;p16"/>
          <p:cNvSpPr txBox="1"/>
          <p:nvPr/>
        </p:nvSpPr>
        <p:spPr>
          <a:xfrm>
            <a:off x="5430916" y="3986212"/>
            <a:ext cx="13302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50">
                <a:solidFill>
                  <a:srgbClr val="0F172A"/>
                </a:solidFill>
                <a:latin typeface="Plus Jakarta Sans"/>
                <a:ea typeface="Plus Jakarta Sans"/>
                <a:cs typeface="Plus Jakarta Sans"/>
                <a:sym typeface="Plus Jakarta Sans"/>
              </a:rPr>
              <a:t>Rohit Ranjan</a:t>
            </a:r>
            <a:endParaRPr/>
          </a:p>
        </p:txBody>
      </p:sp>
      <p:sp>
        <p:nvSpPr>
          <p:cNvPr id="124" name="Google Shape;124;p16"/>
          <p:cNvSpPr txBox="1"/>
          <p:nvPr/>
        </p:nvSpPr>
        <p:spPr>
          <a:xfrm>
            <a:off x="5384006" y="4329112"/>
            <a:ext cx="14241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0891B2"/>
                </a:solidFill>
                <a:latin typeface="Plus Jakarta Sans"/>
                <a:ea typeface="Plus Jakarta Sans"/>
                <a:cs typeface="Plus Jakarta Sans"/>
                <a:sym typeface="Plus Jakarta Sans"/>
              </a:rPr>
              <a:t>Roll No: </a:t>
            </a:r>
            <a:r>
              <a:rPr b="1" lang="en-US" sz="1050">
                <a:solidFill>
                  <a:srgbClr val="0891B2"/>
                </a:solidFill>
                <a:latin typeface="Plus Jakarta Sans"/>
                <a:ea typeface="Plus Jakarta Sans"/>
                <a:cs typeface="Plus Jakarta Sans"/>
                <a:sym typeface="Plus Jakarta Sans"/>
              </a:rPr>
              <a:t>32600126</a:t>
            </a:r>
            <a:endParaRPr/>
          </a:p>
        </p:txBody>
      </p:sp>
      <p:sp>
        <p:nvSpPr>
          <p:cNvPr id="125" name="Google Shape;125;p16"/>
          <p:cNvSpPr txBox="1"/>
          <p:nvPr/>
        </p:nvSpPr>
        <p:spPr>
          <a:xfrm>
            <a:off x="4714875" y="4652962"/>
            <a:ext cx="2762400" cy="17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Data &amp; Database C</a:t>
            </a:r>
            <a:r>
              <a:rPr lang="en-US" sz="1125">
                <a:solidFill>
                  <a:srgbClr val="64748B"/>
                </a:solidFill>
                <a:latin typeface="Plus Jakarta Sans"/>
                <a:ea typeface="Plus Jakarta Sans"/>
                <a:cs typeface="Plus Jakarta Sans"/>
                <a:sym typeface="Plus Jakarta Sans"/>
              </a:rPr>
              <a:t>ontext</a:t>
            </a:r>
            <a:endParaRPr/>
          </a:p>
        </p:txBody>
      </p:sp>
      <p:sp>
        <p:nvSpPr>
          <p:cNvPr id="126" name="Google Shape;126;p16"/>
          <p:cNvSpPr txBox="1"/>
          <p:nvPr/>
        </p:nvSpPr>
        <p:spPr>
          <a:xfrm>
            <a:off x="9070527" y="3959163"/>
            <a:ext cx="1569600" cy="2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50">
                <a:solidFill>
                  <a:srgbClr val="0F172A"/>
                </a:solidFill>
                <a:latin typeface="Plus Jakarta Sans"/>
                <a:ea typeface="Plus Jakarta Sans"/>
                <a:cs typeface="Plus Jakarta Sans"/>
                <a:sym typeface="Plus Jakarta Sans"/>
              </a:rPr>
              <a:t>Anukalp Kumar</a:t>
            </a:r>
            <a:endParaRPr/>
          </a:p>
        </p:txBody>
      </p:sp>
      <p:sp>
        <p:nvSpPr>
          <p:cNvPr id="127" name="Google Shape;127;p16"/>
          <p:cNvSpPr txBox="1"/>
          <p:nvPr/>
        </p:nvSpPr>
        <p:spPr>
          <a:xfrm>
            <a:off x="9137302" y="4329112"/>
            <a:ext cx="1435800" cy="1617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050" u="none" cap="none" strike="noStrike">
                <a:solidFill>
                  <a:srgbClr val="B45309"/>
                </a:solidFill>
                <a:latin typeface="Plus Jakarta Sans"/>
                <a:ea typeface="Plus Jakarta Sans"/>
                <a:cs typeface="Plus Jakarta Sans"/>
                <a:sym typeface="Plus Jakarta Sans"/>
              </a:rPr>
              <a:t>Roll No: </a:t>
            </a:r>
            <a:r>
              <a:rPr b="1" lang="en-US" sz="1050">
                <a:solidFill>
                  <a:srgbClr val="B45309"/>
                </a:solidFill>
                <a:latin typeface="Plus Jakarta Sans"/>
                <a:ea typeface="Plus Jakarta Sans"/>
                <a:cs typeface="Plus Jakarta Sans"/>
                <a:sym typeface="Plus Jakarta Sans"/>
              </a:rPr>
              <a:t>32601026</a:t>
            </a:r>
            <a:endParaRPr/>
          </a:p>
        </p:txBody>
      </p:sp>
      <p:sp>
        <p:nvSpPr>
          <p:cNvPr id="128" name="Google Shape;128;p16"/>
          <p:cNvSpPr txBox="1"/>
          <p:nvPr/>
        </p:nvSpPr>
        <p:spPr>
          <a:xfrm>
            <a:off x="9362630" y="4616387"/>
            <a:ext cx="2357400" cy="17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25">
                <a:solidFill>
                  <a:srgbClr val="64748B"/>
                </a:solidFill>
                <a:latin typeface="Plus Jakarta Sans"/>
                <a:ea typeface="Plus Jakarta Sans"/>
                <a:cs typeface="Plus Jakarta Sans"/>
                <a:sym typeface="Plus Jakarta Sans"/>
              </a:rPr>
              <a:t>Representation</a:t>
            </a:r>
            <a:endParaRPr/>
          </a:p>
        </p:txBody>
      </p:sp>
      <p:sp>
        <p:nvSpPr>
          <p:cNvPr id="129" name="Google Shape;129;p16"/>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pic>
        <p:nvPicPr>
          <p:cNvPr id="130" name="Google Shape;130;p16" title="WhatsApp Image 2026-10-28 at 10.50.44 AM.jpeg"/>
          <p:cNvPicPr preferRelativeResize="0"/>
          <p:nvPr/>
        </p:nvPicPr>
        <p:blipFill>
          <a:blip r:embed="rId3">
            <a:alphaModFix/>
          </a:blip>
          <a:stretch>
            <a:fillRect/>
          </a:stretch>
        </p:blipFill>
        <p:spPr>
          <a:xfrm>
            <a:off x="9281050" y="2649950"/>
            <a:ext cx="1129510" cy="1193401"/>
          </a:xfrm>
          <a:prstGeom prst="rect">
            <a:avLst/>
          </a:prstGeom>
          <a:noFill/>
          <a:ln>
            <a:noFill/>
          </a:ln>
        </p:spPr>
      </p:pic>
      <p:pic>
        <p:nvPicPr>
          <p:cNvPr id="131" name="Google Shape;131;p16" title="WhatsApp Image 2026-10-28 at 10.51.52 AM.jpeg"/>
          <p:cNvPicPr preferRelativeResize="0"/>
          <p:nvPr/>
        </p:nvPicPr>
        <p:blipFill>
          <a:blip r:embed="rId4">
            <a:alphaModFix/>
          </a:blip>
          <a:stretch>
            <a:fillRect/>
          </a:stretch>
        </p:blipFill>
        <p:spPr>
          <a:xfrm>
            <a:off x="5478163" y="2704000"/>
            <a:ext cx="1216776" cy="1193400"/>
          </a:xfrm>
          <a:prstGeom prst="rect">
            <a:avLst/>
          </a:prstGeom>
          <a:noFill/>
          <a:ln>
            <a:noFill/>
          </a:ln>
        </p:spPr>
      </p:pic>
      <p:pic>
        <p:nvPicPr>
          <p:cNvPr id="132" name="Google Shape;132;p16" title="WhatsApp Image 2026-10-28 at 11.14.55 AM.jpeg"/>
          <p:cNvPicPr preferRelativeResize="0"/>
          <p:nvPr/>
        </p:nvPicPr>
        <p:blipFill rotWithShape="1">
          <a:blip r:embed="rId5">
            <a:alphaModFix/>
          </a:blip>
          <a:srcRect b="5714" l="0" r="0" t="12419"/>
          <a:stretch/>
        </p:blipFill>
        <p:spPr>
          <a:xfrm>
            <a:off x="1781600" y="2704000"/>
            <a:ext cx="1129500" cy="1193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1000" fill="hold"/>
                                        <p:tgtEl>
                                          <p:spTgt spid="119"/>
                                        </p:tgtEl>
                                        <p:attrNameLst>
                                          <p:attrName>r</p:attrName>
                                        </p:attrNameLst>
                                      </p:cBhvr>
                                    </p:animRot>
                                  </p:childTnLst>
                                </p:cTn>
                              </p:par>
                              <p:par>
                                <p:cTn fill="hold" nodeType="withEffect" presetClass="entr" presetID="2" presetSubtype="8">
                                  <p:stCondLst>
                                    <p:cond delay="0"/>
                                  </p:stCondLst>
                                  <p:childTnLst>
                                    <p:set>
                                      <p:cBhvr>
                                        <p:cTn dur="1" fill="hold">
                                          <p:stCondLst>
                                            <p:cond delay="0"/>
                                          </p:stCondLst>
                                        </p:cTn>
                                        <p:tgtEl>
                                          <p:spTgt spid="121"/>
                                        </p:tgtEl>
                                        <p:attrNameLst>
                                          <p:attrName>style.visibility</p:attrName>
                                        </p:attrNameLst>
                                      </p:cBhvr>
                                      <p:to>
                                        <p:strVal val="visible"/>
                                      </p:to>
                                    </p:set>
                                    <p:anim calcmode="lin" valueType="num">
                                      <p:cBhvr additive="base">
                                        <p:cTn dur="1000"/>
                                        <p:tgtEl>
                                          <p:spTgt spid="12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27"/>
                                        </p:tgtEl>
                                        <p:attrNameLst>
                                          <p:attrName>style.visibility</p:attrName>
                                        </p:attrNameLst>
                                      </p:cBhvr>
                                      <p:to>
                                        <p:strVal val="visible"/>
                                      </p:to>
                                    </p:set>
                                    <p:anim calcmode="lin" valueType="num">
                                      <p:cBhvr additive="base">
                                        <p:cTn dur="1000"/>
                                        <p:tgtEl>
                                          <p:spTgt spid="127"/>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1000"/>
                                        <p:tgtEl>
                                          <p:spTgt spid="124"/>
                                        </p:tgtEl>
                                        <p:attrNameLst>
                                          <p:attrName>ppt_w</p:attrName>
                                        </p:attrNameLst>
                                      </p:cBhvr>
                                      <p:tavLst>
                                        <p:tav fmla="" tm="0">
                                          <p:val>
                                            <p:strVal val="0"/>
                                          </p:val>
                                        </p:tav>
                                        <p:tav fmla="" tm="100000">
                                          <p:val>
                                            <p:strVal val="#ppt_w"/>
                                          </p:val>
                                        </p:tav>
                                      </p:tavLst>
                                    </p:anim>
                                    <p:anim calcmode="lin" valueType="num">
                                      <p:cBhvr additive="base">
                                        <p:cTn dur="1000"/>
                                        <p:tgtEl>
                                          <p:spTgt spid="12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1000"/>
                                        <p:tgtEl>
                                          <p:spTgt spid="113"/>
                                        </p:tgtEl>
                                        <p:attrNameLst>
                                          <p:attrName>ppt_w</p:attrName>
                                        </p:attrNameLst>
                                      </p:cBhvr>
                                      <p:tavLst>
                                        <p:tav fmla="" tm="0">
                                          <p:val>
                                            <p:strVal val="0"/>
                                          </p:val>
                                        </p:tav>
                                        <p:tav fmla="" tm="100000">
                                          <p:val>
                                            <p:strVal val="#ppt_w"/>
                                          </p:val>
                                        </p:tav>
                                      </p:tavLst>
                                    </p:anim>
                                    <p:anim calcmode="lin" valueType="num">
                                      <p:cBhvr additive="base">
                                        <p:cTn dur="1000"/>
                                        <p:tgtEl>
                                          <p:spTgt spid="11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15"/>
                                        </p:tgtEl>
                                        <p:attrNameLst>
                                          <p:attrName>style.visibility</p:attrName>
                                        </p:attrNameLst>
                                      </p:cBhvr>
                                      <p:to>
                                        <p:strVal val="visible"/>
                                      </p:to>
                                    </p:set>
                                    <p:anim calcmode="lin" valueType="num">
                                      <p:cBhvr additive="base">
                                        <p:cTn dur="1000"/>
                                        <p:tgtEl>
                                          <p:spTgt spid="115"/>
                                        </p:tgtEl>
                                        <p:attrNameLst>
                                          <p:attrName>ppt_w</p:attrName>
                                        </p:attrNameLst>
                                      </p:cBhvr>
                                      <p:tavLst>
                                        <p:tav fmla="" tm="0">
                                          <p:val>
                                            <p:strVal val="0"/>
                                          </p:val>
                                        </p:tav>
                                        <p:tav fmla="" tm="100000">
                                          <p:val>
                                            <p:strVal val="#ppt_w"/>
                                          </p:val>
                                        </p:tav>
                                      </p:tavLst>
                                    </p:anim>
                                    <p:anim calcmode="lin" valueType="num">
                                      <p:cBhvr additive="base">
                                        <p:cTn dur="1000"/>
                                        <p:tgtEl>
                                          <p:spTgt spid="11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17"/>
                                        </p:tgtEl>
                                        <p:attrNameLst>
                                          <p:attrName>style.visibility</p:attrName>
                                        </p:attrNameLst>
                                      </p:cBhvr>
                                      <p:to>
                                        <p:strVal val="visible"/>
                                      </p:to>
                                    </p:set>
                                    <p:anim calcmode="lin" valueType="num">
                                      <p:cBhvr additive="base">
                                        <p:cTn dur="1000"/>
                                        <p:tgtEl>
                                          <p:spTgt spid="117"/>
                                        </p:tgtEl>
                                        <p:attrNameLst>
                                          <p:attrName>ppt_w</p:attrName>
                                        </p:attrNameLst>
                                      </p:cBhvr>
                                      <p:tavLst>
                                        <p:tav fmla="" tm="0">
                                          <p:val>
                                            <p:strVal val="0"/>
                                          </p:val>
                                        </p:tav>
                                        <p:tav fmla="" tm="100000">
                                          <p:val>
                                            <p:strVal val="#ppt_w"/>
                                          </p:val>
                                        </p:tav>
                                      </p:tavLst>
                                    </p:anim>
                                    <p:anim calcmode="lin" valueType="num">
                                      <p:cBhvr additive="base">
                                        <p:cTn dur="1000"/>
                                        <p:tgtEl>
                                          <p:spTgt spid="11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6" name="Shape 136"/>
        <p:cNvGrpSpPr/>
        <p:nvPr/>
      </p:nvGrpSpPr>
      <p:grpSpPr>
        <a:xfrm>
          <a:off x="0" y="0"/>
          <a:ext cx="0" cy="0"/>
          <a:chOff x="0" y="0"/>
          <a:chExt cx="0" cy="0"/>
        </a:xfrm>
      </p:grpSpPr>
      <p:sp>
        <p:nvSpPr>
          <p:cNvPr id="137" name="Google Shape;137;p17"/>
          <p:cNvSpPr/>
          <p:nvPr/>
        </p:nvSpPr>
        <p:spPr>
          <a:xfrm>
            <a:off x="609600" y="3102768"/>
            <a:ext cx="5846415" cy="723900"/>
          </a:xfrm>
          <a:prstGeom prst="roundRect">
            <a:avLst>
              <a:gd fmla="val 2894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7"/>
          <p:cNvSpPr/>
          <p:nvPr/>
        </p:nvSpPr>
        <p:spPr>
          <a:xfrm>
            <a:off x="609600" y="3960018"/>
            <a:ext cx="5846415" cy="723900"/>
          </a:xfrm>
          <a:prstGeom prst="roundRect">
            <a:avLst>
              <a:gd fmla="val 2894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7"/>
          <p:cNvSpPr/>
          <p:nvPr/>
        </p:nvSpPr>
        <p:spPr>
          <a:xfrm>
            <a:off x="609600" y="4817268"/>
            <a:ext cx="5846415" cy="723900"/>
          </a:xfrm>
          <a:prstGeom prst="roundRect">
            <a:avLst>
              <a:gd fmla="val 2894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 name="Google Shape;140;p17"/>
          <p:cNvSpPr/>
          <p:nvPr/>
        </p:nvSpPr>
        <p:spPr>
          <a:xfrm>
            <a:off x="609600" y="3102768"/>
            <a:ext cx="5827366" cy="704850"/>
          </a:xfrm>
          <a:prstGeom prst="roundRect">
            <a:avLst>
              <a:gd fmla="val 297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p:nvPr/>
        </p:nvSpPr>
        <p:spPr>
          <a:xfrm>
            <a:off x="609600" y="3960018"/>
            <a:ext cx="5827366" cy="704850"/>
          </a:xfrm>
          <a:prstGeom prst="roundRect">
            <a:avLst>
              <a:gd fmla="val 297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7"/>
          <p:cNvSpPr/>
          <p:nvPr/>
        </p:nvSpPr>
        <p:spPr>
          <a:xfrm>
            <a:off x="609600" y="4817268"/>
            <a:ext cx="5827366" cy="704850"/>
          </a:xfrm>
          <a:prstGeom prst="roundRect">
            <a:avLst>
              <a:gd fmla="val 29729"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43" name="Google Shape;143;p17"/>
          <p:cNvPicPr preferRelativeResize="0"/>
          <p:nvPr/>
        </p:nvPicPr>
        <p:blipFill rotWithShape="1">
          <a:blip r:embed="rId3">
            <a:alphaModFix/>
          </a:blip>
          <a:srcRect b="0" l="0" r="0" t="0"/>
          <a:stretch/>
        </p:blipFill>
        <p:spPr>
          <a:xfrm>
            <a:off x="809625" y="3264693"/>
            <a:ext cx="400050" cy="400050"/>
          </a:xfrm>
          <a:prstGeom prst="rect">
            <a:avLst/>
          </a:prstGeom>
          <a:noFill/>
          <a:ln>
            <a:noFill/>
          </a:ln>
        </p:spPr>
      </p:pic>
      <p:pic>
        <p:nvPicPr>
          <p:cNvPr descr="image.png" id="144" name="Google Shape;144;p17"/>
          <p:cNvPicPr preferRelativeResize="0"/>
          <p:nvPr/>
        </p:nvPicPr>
        <p:blipFill rotWithShape="1">
          <a:blip r:embed="rId4">
            <a:alphaModFix/>
          </a:blip>
          <a:srcRect b="0" l="0" r="0" t="0"/>
          <a:stretch/>
        </p:blipFill>
        <p:spPr>
          <a:xfrm>
            <a:off x="809625" y="4121943"/>
            <a:ext cx="400050" cy="400050"/>
          </a:xfrm>
          <a:prstGeom prst="rect">
            <a:avLst/>
          </a:prstGeom>
          <a:noFill/>
          <a:ln>
            <a:noFill/>
          </a:ln>
        </p:spPr>
      </p:pic>
      <p:pic>
        <p:nvPicPr>
          <p:cNvPr descr="image.png" id="145" name="Google Shape;145;p17"/>
          <p:cNvPicPr preferRelativeResize="0"/>
          <p:nvPr/>
        </p:nvPicPr>
        <p:blipFill rotWithShape="1">
          <a:blip r:embed="rId5">
            <a:alphaModFix/>
          </a:blip>
          <a:srcRect b="0" l="0" r="0" t="0"/>
          <a:stretch/>
        </p:blipFill>
        <p:spPr>
          <a:xfrm>
            <a:off x="809625" y="4979193"/>
            <a:ext cx="400050" cy="400050"/>
          </a:xfrm>
          <a:prstGeom prst="rect">
            <a:avLst/>
          </a:prstGeom>
          <a:noFill/>
          <a:ln>
            <a:noFill/>
          </a:ln>
        </p:spPr>
      </p:pic>
      <p:pic>
        <p:nvPicPr>
          <p:cNvPr descr="image.png" id="146" name="Google Shape;146;p17"/>
          <p:cNvPicPr preferRelativeResize="0"/>
          <p:nvPr/>
        </p:nvPicPr>
        <p:blipFill rotWithShape="1">
          <a:blip r:embed="rId6">
            <a:alphaModFix/>
          </a:blip>
          <a:srcRect b="0" l="0" r="0" t="0"/>
          <a:stretch/>
        </p:blipFill>
        <p:spPr>
          <a:xfrm>
            <a:off x="914400" y="3369468"/>
            <a:ext cx="190500" cy="190500"/>
          </a:xfrm>
          <a:prstGeom prst="rect">
            <a:avLst/>
          </a:prstGeom>
          <a:noFill/>
          <a:ln>
            <a:noFill/>
          </a:ln>
        </p:spPr>
      </p:pic>
      <p:pic>
        <p:nvPicPr>
          <p:cNvPr descr="image.png" id="147" name="Google Shape;147;p17"/>
          <p:cNvPicPr preferRelativeResize="0"/>
          <p:nvPr/>
        </p:nvPicPr>
        <p:blipFill rotWithShape="1">
          <a:blip r:embed="rId7">
            <a:alphaModFix/>
          </a:blip>
          <a:srcRect b="0" l="0" r="0" t="0"/>
          <a:stretch/>
        </p:blipFill>
        <p:spPr>
          <a:xfrm>
            <a:off x="914400" y="4226718"/>
            <a:ext cx="190500" cy="190500"/>
          </a:xfrm>
          <a:prstGeom prst="rect">
            <a:avLst/>
          </a:prstGeom>
          <a:noFill/>
          <a:ln>
            <a:noFill/>
          </a:ln>
        </p:spPr>
      </p:pic>
      <p:pic>
        <p:nvPicPr>
          <p:cNvPr descr="image.png" id="148" name="Google Shape;148;p17"/>
          <p:cNvPicPr preferRelativeResize="0"/>
          <p:nvPr/>
        </p:nvPicPr>
        <p:blipFill rotWithShape="1">
          <a:blip r:embed="rId8">
            <a:alphaModFix/>
          </a:blip>
          <a:srcRect b="0" l="0" r="0" t="0"/>
          <a:stretch/>
        </p:blipFill>
        <p:spPr>
          <a:xfrm>
            <a:off x="938212" y="5083968"/>
            <a:ext cx="142875" cy="190500"/>
          </a:xfrm>
          <a:prstGeom prst="rect">
            <a:avLst/>
          </a:prstGeom>
          <a:noFill/>
          <a:ln>
            <a:noFill/>
          </a:ln>
        </p:spPr>
      </p:pic>
      <p:sp>
        <p:nvSpPr>
          <p:cNvPr id="149" name="Google Shape;149;p17"/>
          <p:cNvSpPr txBox="1"/>
          <p:nvPr/>
        </p:nvSpPr>
        <p:spPr>
          <a:xfrm>
            <a:off x="609600" y="845350"/>
            <a:ext cx="11582400" cy="461700"/>
          </a:xfrm>
          <a:prstGeom prst="rect">
            <a:avLst/>
          </a:prstGeom>
          <a:noFill/>
          <a:ln>
            <a:noFill/>
          </a:ln>
          <a:effectLst>
            <a:reflection blurRad="0" dir="5400000" dist="38100" endA="0" fadeDir="5400012" kx="0" rotWithShape="0" algn="bl" stA="0" stPos="0" sy="-100000" ky="0"/>
          </a:effectLst>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What is ADDC?</a:t>
            </a:r>
            <a:endParaRPr sz="2000"/>
          </a:p>
        </p:txBody>
      </p:sp>
      <p:sp>
        <p:nvSpPr>
          <p:cNvPr id="150" name="Google Shape;150;p17"/>
          <p:cNvSpPr txBox="1"/>
          <p:nvPr/>
        </p:nvSpPr>
        <p:spPr>
          <a:xfrm>
            <a:off x="610200" y="1899669"/>
            <a:ext cx="5941800" cy="877200"/>
          </a:xfrm>
          <a:prstGeom prst="rect">
            <a:avLst/>
          </a:prstGeom>
          <a:noFill/>
          <a:ln>
            <a:noFill/>
          </a:ln>
        </p:spPr>
        <p:txBody>
          <a:bodyPr anchorCtr="0" anchor="t" bIns="0" lIns="0" spcFirstLastPara="1" rIns="0" wrap="square" tIns="0">
            <a:spAutoFit/>
          </a:bodyPr>
          <a:lstStyle/>
          <a:p>
            <a:pPr indent="0" lvl="0" marL="0" marR="0" rtl="0" algn="l">
              <a:lnSpc>
                <a:spcPct val="149964"/>
              </a:lnSpc>
              <a:spcBef>
                <a:spcPts val="0"/>
              </a:spcBef>
              <a:spcAft>
                <a:spcPts val="0"/>
              </a:spcAft>
              <a:buNone/>
            </a:pPr>
            <a:r>
              <a:rPr b="0" i="0" lang="en-US" sz="1425" u="none" cap="none" strike="noStrike">
                <a:solidFill>
                  <a:srgbClr val="334155"/>
                </a:solidFill>
                <a:latin typeface="Plus Jakarta Sans"/>
                <a:ea typeface="Plus Jakarta Sans"/>
                <a:cs typeface="Plus Jakarta Sans"/>
                <a:sym typeface="Plus Jakarta Sans"/>
              </a:rPr>
              <a:t>Imagine an app with </a:t>
            </a:r>
            <a:r>
              <a:rPr b="1" i="0" lang="en-US" sz="1425" u="none" cap="none" strike="noStrike">
                <a:solidFill>
                  <a:srgbClr val="334155"/>
                </a:solidFill>
                <a:latin typeface="Plus Jakarta Sans"/>
                <a:ea typeface="Plus Jakarta Sans"/>
                <a:cs typeface="Plus Jakarta Sans"/>
                <a:sym typeface="Plus Jakarta Sans"/>
              </a:rPr>
              <a:t>10 users</a:t>
            </a:r>
            <a:r>
              <a:rPr b="0" i="0" lang="en-US" sz="1425" u="none" cap="none" strike="noStrike">
                <a:solidFill>
                  <a:srgbClr val="334155"/>
                </a:solidFill>
                <a:latin typeface="Plus Jakarta Sans"/>
                <a:ea typeface="Plus Jakarta Sans"/>
                <a:cs typeface="Plus Jakarta Sans"/>
                <a:sym typeface="Plus Jakarta Sans"/>
              </a:rPr>
              <a:t> vs </a:t>
            </a:r>
            <a:r>
              <a:rPr b="1" i="0" lang="en-US" sz="1425" u="none" cap="none" strike="noStrike">
                <a:solidFill>
                  <a:srgbClr val="334155"/>
                </a:solidFill>
                <a:latin typeface="Plus Jakarta Sans"/>
                <a:ea typeface="Plus Jakarta Sans"/>
                <a:cs typeface="Plus Jakarta Sans"/>
                <a:sym typeface="Plus Jakarta Sans"/>
              </a:rPr>
              <a:t>10 crore users</a:t>
            </a:r>
            <a:r>
              <a:rPr b="0" i="0" lang="en-US" sz="1425" u="none" cap="none" strike="noStrike">
                <a:solidFill>
                  <a:srgbClr val="334155"/>
                </a:solidFill>
                <a:latin typeface="Plus Jakarta Sans"/>
                <a:ea typeface="Plus Jakarta Sans"/>
                <a:cs typeface="Plus Jakarta Sans"/>
                <a:sym typeface="Plus Jakarta Sans"/>
              </a:rPr>
              <a:t>. Regular DBMS designs crash under heavy load. </a:t>
            </a:r>
            <a:r>
              <a:rPr b="1" i="0" lang="en-US" sz="1425" u="none" cap="none" strike="noStrike">
                <a:solidFill>
                  <a:srgbClr val="334155"/>
                </a:solidFill>
                <a:latin typeface="Plus Jakarta Sans"/>
                <a:ea typeface="Plus Jakarta Sans"/>
                <a:cs typeface="Plus Jakarta Sans"/>
                <a:sym typeface="Plus Jakarta Sans"/>
              </a:rPr>
              <a:t>ADDC</a:t>
            </a:r>
            <a:r>
              <a:rPr b="0" i="0" lang="en-US" sz="1425" u="none" cap="none" strike="noStrike">
                <a:solidFill>
                  <a:srgbClr val="334155"/>
                </a:solidFill>
                <a:latin typeface="Plus Jakarta Sans"/>
                <a:ea typeface="Plus Jakarta Sans"/>
                <a:cs typeface="Plus Jakarta Sans"/>
                <a:sym typeface="Plus Jakarta Sans"/>
              </a:rPr>
              <a:t> is the architectural superpower to build databases that never crash.</a:t>
            </a:r>
            <a:endParaRPr/>
          </a:p>
        </p:txBody>
      </p:sp>
      <p:sp>
        <p:nvSpPr>
          <p:cNvPr id="151" name="Google Shape;151;p17"/>
          <p:cNvSpPr txBox="1"/>
          <p:nvPr/>
        </p:nvSpPr>
        <p:spPr>
          <a:xfrm>
            <a:off x="1362075" y="3264693"/>
            <a:ext cx="4375546"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Massive Scalability</a:t>
            </a:r>
            <a:endParaRPr/>
          </a:p>
        </p:txBody>
      </p:sp>
      <p:sp>
        <p:nvSpPr>
          <p:cNvPr id="152" name="Google Shape;152;p17"/>
          <p:cNvSpPr txBox="1"/>
          <p:nvPr/>
        </p:nvSpPr>
        <p:spPr>
          <a:xfrm>
            <a:off x="1362075" y="3493293"/>
            <a:ext cx="41671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Splits data across 100+ servers so no server gets tired.</a:t>
            </a:r>
            <a:endParaRPr/>
          </a:p>
        </p:txBody>
      </p:sp>
      <p:sp>
        <p:nvSpPr>
          <p:cNvPr id="153" name="Google Shape;153;p17"/>
          <p:cNvSpPr txBox="1"/>
          <p:nvPr/>
        </p:nvSpPr>
        <p:spPr>
          <a:xfrm>
            <a:off x="1362075" y="4121943"/>
            <a:ext cx="4438054"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Zero Data Loss (High Reliability)</a:t>
            </a:r>
            <a:endParaRPr/>
          </a:p>
        </p:txBody>
      </p:sp>
      <p:sp>
        <p:nvSpPr>
          <p:cNvPr id="154" name="Google Shape;154;p17"/>
          <p:cNvSpPr txBox="1"/>
          <p:nvPr/>
        </p:nvSpPr>
        <p:spPr>
          <a:xfrm>
            <a:off x="1362075" y="4350543"/>
            <a:ext cx="422671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Even if power cuts out, transactions remain 100% safe.</a:t>
            </a:r>
            <a:endParaRPr/>
          </a:p>
        </p:txBody>
      </p:sp>
      <p:sp>
        <p:nvSpPr>
          <p:cNvPr id="155" name="Google Shape;155;p17"/>
          <p:cNvSpPr txBox="1"/>
          <p:nvPr/>
        </p:nvSpPr>
        <p:spPr>
          <a:xfrm>
            <a:off x="1362075" y="4979193"/>
            <a:ext cx="4413051"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Lightning Speed Queries</a:t>
            </a:r>
            <a:endParaRPr/>
          </a:p>
        </p:txBody>
      </p:sp>
      <p:sp>
        <p:nvSpPr>
          <p:cNvPr id="156" name="Google Shape;156;p17"/>
          <p:cNvSpPr txBox="1"/>
          <p:nvPr/>
        </p:nvSpPr>
        <p:spPr>
          <a:xfrm>
            <a:off x="1362075" y="5207793"/>
            <a:ext cx="4202906"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Answers requests in milliseconds using smart indexing.</a:t>
            </a:r>
            <a:endParaRPr/>
          </a:p>
        </p:txBody>
      </p:sp>
      <p:pic>
        <p:nvPicPr>
          <p:cNvPr descr="dot info generic top level domain concept, gtld vectory icon design, Domain for information Website Sign, Cloud computing and Internet hosting services Symbol, World Wide Web Stock Illustration (provided by Getty Images)" id="157" name="Google Shape;157;p17"/>
          <p:cNvPicPr preferRelativeResize="0"/>
          <p:nvPr/>
        </p:nvPicPr>
        <p:blipFill>
          <a:blip r:embed="rId9">
            <a:alphaModFix/>
          </a:blip>
          <a:stretch>
            <a:fillRect/>
          </a:stretch>
        </p:blipFill>
        <p:spPr>
          <a:xfrm>
            <a:off x="6965150" y="575475"/>
            <a:ext cx="4802202" cy="5496725"/>
          </a:xfrm>
          <a:prstGeom prst="rect">
            <a:avLst/>
          </a:prstGeom>
          <a:noFill/>
          <a:ln>
            <a:noFill/>
          </a:ln>
        </p:spPr>
      </p:pic>
      <p:sp>
        <p:nvSpPr>
          <p:cNvPr id="158" name="Google Shape;158;p17"/>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2">
                                  <p:stCondLst>
                                    <p:cond delay="0"/>
                                  </p:stCondLst>
                                  <p:childTnLst>
                                    <p:set>
                                      <p:cBhvr>
                                        <p:cTn dur="1" fill="hold">
                                          <p:stCondLst>
                                            <p:cond delay="0"/>
                                          </p:stCondLst>
                                        </p:cTn>
                                        <p:tgtEl>
                                          <p:spTgt spid="149"/>
                                        </p:tgtEl>
                                        <p:attrNameLst>
                                          <p:attrName>style.visibility</p:attrName>
                                        </p:attrNameLst>
                                      </p:cBhvr>
                                      <p:to>
                                        <p:strVal val="visible"/>
                                      </p:to>
                                    </p:set>
                                    <p:anim calcmode="lin" valueType="num">
                                      <p:cBhvr additive="base">
                                        <p:cTn dur="1000"/>
                                        <p:tgtEl>
                                          <p:spTgt spid="14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0"/>
                                  </p:stCondLst>
                                  <p:childTnLst>
                                    <p:set>
                                      <p:cBhvr>
                                        <p:cTn dur="1" fill="hold">
                                          <p:stCondLst>
                                            <p:cond delay="0"/>
                                          </p:stCondLst>
                                        </p:cTn>
                                        <p:tgtEl>
                                          <p:spTgt spid="150"/>
                                        </p:tgtEl>
                                        <p:attrNameLst>
                                          <p:attrName>style.visibility</p:attrName>
                                        </p:attrNameLst>
                                      </p:cBhvr>
                                      <p:to>
                                        <p:strVal val="visible"/>
                                      </p:to>
                                    </p:set>
                                    <p:anim calcmode="lin" valueType="num">
                                      <p:cBhvr additive="base">
                                        <p:cTn dur="1000"/>
                                        <p:tgtEl>
                                          <p:spTgt spid="150"/>
                                        </p:tgtEl>
                                        <p:attrNameLst>
                                          <p:attrName>ppt_x</p:attrName>
                                        </p:attrNameLst>
                                      </p:cBhvr>
                                      <p:tavLst>
                                        <p:tav fmla="" tm="0">
                                          <p:val>
                                            <p:strVal val="#ppt_x+1"/>
                                          </p:val>
                                        </p:tav>
                                        <p:tav fmla="" tm="100000">
                                          <p:val>
                                            <p:strVal val="#ppt_x"/>
                                          </p:val>
                                        </p:tav>
                                      </p:tavLst>
                                    </p:anim>
                                  </p:childTnLst>
                                </p:cTn>
                              </p:par>
                              <p:par>
                                <p:cTn fill="hold" nodeType="withEffect" presetClass="emph" presetID="8" presetSubtype="0">
                                  <p:stCondLst>
                                    <p:cond delay="0"/>
                                  </p:stCondLst>
                                  <p:childTnLst>
                                    <p:animRot by="-21600000">
                                      <p:cBhvr>
                                        <p:cTn dur="1000" fill="hold"/>
                                        <p:tgtEl>
                                          <p:spTgt spid="143"/>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44"/>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48"/>
                                        </p:tgtEl>
                                        <p:attrNameLst>
                                          <p:attrName>r</p:attrName>
                                        </p:attrNameLst>
                                      </p:cBhvr>
                                    </p:animRot>
                                  </p:childTnLst>
                                </p:cTn>
                              </p:par>
                              <p:par>
                                <p:cTn fill="hold" nodeType="withEffect" presetClass="entr" presetID="2" presetSubtype="4">
                                  <p:stCondLst>
                                    <p:cond delay="0"/>
                                  </p:stCondLst>
                                  <p:childTnLst>
                                    <p:set>
                                      <p:cBhvr>
                                        <p:cTn dur="1" fill="hold">
                                          <p:stCondLst>
                                            <p:cond delay="0"/>
                                          </p:stCondLst>
                                        </p:cTn>
                                        <p:tgtEl>
                                          <p:spTgt spid="157"/>
                                        </p:tgtEl>
                                        <p:attrNameLst>
                                          <p:attrName>style.visibility</p:attrName>
                                        </p:attrNameLst>
                                      </p:cBhvr>
                                      <p:to>
                                        <p:strVal val="visible"/>
                                      </p:to>
                                    </p:set>
                                    <p:anim calcmode="lin" valueType="num">
                                      <p:cBhvr additive="base">
                                        <p:cTn dur="1000"/>
                                        <p:tgtEl>
                                          <p:spTgt spid="15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addc - advance database design concept definitation diagram" id="163" name="Google Shape;163;p18"/>
          <p:cNvPicPr preferRelativeResize="0"/>
          <p:nvPr/>
        </p:nvPicPr>
        <p:blipFill>
          <a:blip r:embed="rId3">
            <a:alphaModFix/>
          </a:blip>
          <a:stretch>
            <a:fillRect/>
          </a:stretch>
        </p:blipFill>
        <p:spPr>
          <a:xfrm>
            <a:off x="-47625" y="0"/>
            <a:ext cx="12287250" cy="6858000"/>
          </a:xfrm>
          <a:prstGeom prst="rect">
            <a:avLst/>
          </a:prstGeom>
          <a:noFill/>
          <a:ln>
            <a:noFill/>
          </a:ln>
        </p:spPr>
      </p:pic>
      <p:pic>
        <p:nvPicPr>
          <p:cNvPr descr="addc - advance database design concept definitation diagram" id="164" name="Google Shape;164;p18"/>
          <p:cNvPicPr preferRelativeResize="0"/>
          <p:nvPr/>
        </p:nvPicPr>
        <p:blipFill rotWithShape="1">
          <a:blip r:embed="rId3">
            <a:alphaModFix/>
          </a:blip>
          <a:srcRect b="72352" l="60844" r="0" t="0"/>
          <a:stretch/>
        </p:blipFill>
        <p:spPr>
          <a:xfrm>
            <a:off x="10656100" y="6037825"/>
            <a:ext cx="1436576" cy="820175"/>
          </a:xfrm>
          <a:prstGeom prst="rect">
            <a:avLst/>
          </a:prstGeom>
          <a:noFill/>
          <a:ln>
            <a:noFill/>
          </a:ln>
        </p:spPr>
      </p:pic>
      <p:pic>
        <p:nvPicPr>
          <p:cNvPr descr="addc - advance database design concept definitation diagram" id="165" name="Google Shape;165;p18"/>
          <p:cNvPicPr preferRelativeResize="0"/>
          <p:nvPr/>
        </p:nvPicPr>
        <p:blipFill rotWithShape="1">
          <a:blip r:embed="rId3">
            <a:alphaModFix/>
          </a:blip>
          <a:srcRect b="72352" l="60844" r="0" t="0"/>
          <a:stretch/>
        </p:blipFill>
        <p:spPr>
          <a:xfrm>
            <a:off x="292900" y="5481550"/>
            <a:ext cx="5022051" cy="1262149"/>
          </a:xfrm>
          <a:prstGeom prst="rect">
            <a:avLst/>
          </a:prstGeom>
          <a:noFill/>
          <a:ln>
            <a:noFill/>
          </a:ln>
        </p:spPr>
      </p:pic>
      <p:sp>
        <p:nvSpPr>
          <p:cNvPr id="166" name="Google Shape;166;p18"/>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0" name="Shape 170"/>
        <p:cNvGrpSpPr/>
        <p:nvPr/>
      </p:nvGrpSpPr>
      <p:grpSpPr>
        <a:xfrm>
          <a:off x="0" y="0"/>
          <a:ext cx="0" cy="0"/>
          <a:chOff x="0" y="0"/>
          <a:chExt cx="0" cy="0"/>
        </a:xfrm>
      </p:grpSpPr>
      <p:sp>
        <p:nvSpPr>
          <p:cNvPr id="171" name="Google Shape;171;p19"/>
          <p:cNvSpPr/>
          <p:nvPr/>
        </p:nvSpPr>
        <p:spPr>
          <a:xfrm>
            <a:off x="609600" y="2277516"/>
            <a:ext cx="4833937" cy="3160216"/>
          </a:xfrm>
          <a:prstGeom prst="roundRect">
            <a:avLst>
              <a:gd fmla="val 6630"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2" name="Google Shape;172;p19"/>
          <p:cNvSpPr/>
          <p:nvPr/>
        </p:nvSpPr>
        <p:spPr>
          <a:xfrm>
            <a:off x="6748462" y="2277516"/>
            <a:ext cx="4833937" cy="3160216"/>
          </a:xfrm>
          <a:prstGeom prst="roundRect">
            <a:avLst>
              <a:gd fmla="val 6630"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9"/>
          <p:cNvSpPr/>
          <p:nvPr/>
        </p:nvSpPr>
        <p:spPr>
          <a:xfrm>
            <a:off x="609600" y="2277516"/>
            <a:ext cx="4814887" cy="3141164"/>
          </a:xfrm>
          <a:prstGeom prst="roundRect">
            <a:avLst>
              <a:gd fmla="val 6671"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9"/>
          <p:cNvSpPr/>
          <p:nvPr/>
        </p:nvSpPr>
        <p:spPr>
          <a:xfrm>
            <a:off x="923925" y="4218533"/>
            <a:ext cx="4205287" cy="904875"/>
          </a:xfrm>
          <a:prstGeom prst="roundRect">
            <a:avLst>
              <a:gd fmla="val 12631" name="adj"/>
            </a:avLst>
          </a:prstGeom>
          <a:solidFill>
            <a:srgbClr val="FFF1F2"/>
          </a:solidFill>
          <a:ln cap="flat" cmpd="sng" w="9525">
            <a:solidFill>
              <a:srgbClr val="FDA4A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19"/>
          <p:cNvSpPr/>
          <p:nvPr/>
        </p:nvSpPr>
        <p:spPr>
          <a:xfrm>
            <a:off x="6748462" y="2277516"/>
            <a:ext cx="4814887" cy="3141164"/>
          </a:xfrm>
          <a:prstGeom prst="roundRect">
            <a:avLst>
              <a:gd fmla="val 6671"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6" name="Google Shape;176;p19"/>
          <p:cNvSpPr/>
          <p:nvPr/>
        </p:nvSpPr>
        <p:spPr>
          <a:xfrm>
            <a:off x="7062787" y="4218533"/>
            <a:ext cx="4205287" cy="904875"/>
          </a:xfrm>
          <a:prstGeom prst="roundRect">
            <a:avLst>
              <a:gd fmla="val 12631" name="adj"/>
            </a:avLst>
          </a:prstGeom>
          <a:solidFill>
            <a:srgbClr val="ECFDF5"/>
          </a:solidFill>
          <a:ln cap="flat" cmpd="sng" w="9525">
            <a:solidFill>
              <a:srgbClr val="A7F3D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77" name="Google Shape;177;p19"/>
          <p:cNvPicPr preferRelativeResize="0"/>
          <p:nvPr/>
        </p:nvPicPr>
        <p:blipFill rotWithShape="1">
          <a:blip r:embed="rId3">
            <a:alphaModFix/>
          </a:blip>
          <a:srcRect b="0" l="0" r="0" t="0"/>
          <a:stretch/>
        </p:blipFill>
        <p:spPr>
          <a:xfrm>
            <a:off x="923925" y="2591841"/>
            <a:ext cx="495300" cy="495300"/>
          </a:xfrm>
          <a:prstGeom prst="rect">
            <a:avLst/>
          </a:prstGeom>
          <a:noFill/>
          <a:ln>
            <a:noFill/>
          </a:ln>
        </p:spPr>
      </p:pic>
      <p:pic>
        <p:nvPicPr>
          <p:cNvPr descr="image.png" id="178" name="Google Shape;178;p19"/>
          <p:cNvPicPr preferRelativeResize="0"/>
          <p:nvPr/>
        </p:nvPicPr>
        <p:blipFill rotWithShape="1">
          <a:blip r:embed="rId4">
            <a:alphaModFix/>
          </a:blip>
          <a:srcRect b="0" l="0" r="0" t="0"/>
          <a:stretch/>
        </p:blipFill>
        <p:spPr>
          <a:xfrm>
            <a:off x="5867400" y="3529012"/>
            <a:ext cx="457200" cy="457200"/>
          </a:xfrm>
          <a:prstGeom prst="rect">
            <a:avLst/>
          </a:prstGeom>
          <a:noFill/>
          <a:ln>
            <a:noFill/>
          </a:ln>
        </p:spPr>
      </p:pic>
      <p:pic>
        <p:nvPicPr>
          <p:cNvPr descr="image.png" id="179" name="Google Shape;179;p19"/>
          <p:cNvPicPr preferRelativeResize="0"/>
          <p:nvPr/>
        </p:nvPicPr>
        <p:blipFill rotWithShape="1">
          <a:blip r:embed="rId5">
            <a:alphaModFix/>
          </a:blip>
          <a:srcRect b="0" l="0" r="0" t="0"/>
          <a:stretch/>
        </p:blipFill>
        <p:spPr>
          <a:xfrm>
            <a:off x="7062787" y="2591841"/>
            <a:ext cx="495300" cy="495300"/>
          </a:xfrm>
          <a:prstGeom prst="rect">
            <a:avLst/>
          </a:prstGeom>
          <a:noFill/>
          <a:ln>
            <a:noFill/>
          </a:ln>
        </p:spPr>
      </p:pic>
      <p:pic>
        <p:nvPicPr>
          <p:cNvPr descr="image.png" id="180" name="Google Shape;180;p19"/>
          <p:cNvPicPr preferRelativeResize="0"/>
          <p:nvPr/>
        </p:nvPicPr>
        <p:blipFill rotWithShape="1">
          <a:blip r:embed="rId6">
            <a:alphaModFix/>
          </a:blip>
          <a:srcRect b="0" l="0" r="0" t="0"/>
          <a:stretch/>
        </p:blipFill>
        <p:spPr>
          <a:xfrm>
            <a:off x="1071562" y="2725191"/>
            <a:ext cx="200025" cy="228600"/>
          </a:xfrm>
          <a:prstGeom prst="rect">
            <a:avLst/>
          </a:prstGeom>
          <a:noFill/>
          <a:ln>
            <a:noFill/>
          </a:ln>
        </p:spPr>
      </p:pic>
      <p:pic>
        <p:nvPicPr>
          <p:cNvPr descr="image.png" id="181" name="Google Shape;181;p19"/>
          <p:cNvPicPr preferRelativeResize="0"/>
          <p:nvPr/>
        </p:nvPicPr>
        <p:blipFill rotWithShape="1">
          <a:blip r:embed="rId7">
            <a:alphaModFix/>
          </a:blip>
          <a:srcRect b="0" l="0" r="0" t="0"/>
          <a:stretch/>
        </p:blipFill>
        <p:spPr>
          <a:xfrm>
            <a:off x="6019800" y="3671887"/>
            <a:ext cx="152400" cy="171450"/>
          </a:xfrm>
          <a:prstGeom prst="rect">
            <a:avLst/>
          </a:prstGeom>
          <a:noFill/>
          <a:ln>
            <a:noFill/>
          </a:ln>
        </p:spPr>
      </p:pic>
      <p:pic>
        <p:nvPicPr>
          <p:cNvPr descr="image.png" id="182" name="Google Shape;182;p19"/>
          <p:cNvPicPr preferRelativeResize="0"/>
          <p:nvPr/>
        </p:nvPicPr>
        <p:blipFill rotWithShape="1">
          <a:blip r:embed="rId8">
            <a:alphaModFix/>
          </a:blip>
          <a:srcRect b="0" l="0" r="0" t="0"/>
          <a:stretch/>
        </p:blipFill>
        <p:spPr>
          <a:xfrm>
            <a:off x="7196137" y="2725191"/>
            <a:ext cx="228600" cy="228600"/>
          </a:xfrm>
          <a:prstGeom prst="rect">
            <a:avLst/>
          </a:prstGeom>
          <a:noFill/>
          <a:ln>
            <a:noFill/>
          </a:ln>
        </p:spPr>
      </p:pic>
      <p:sp>
        <p:nvSpPr>
          <p:cNvPr id="183" name="Google Shape;183;p19"/>
          <p:cNvSpPr txBox="1"/>
          <p:nvPr/>
        </p:nvSpPr>
        <p:spPr>
          <a:xfrm>
            <a:off x="4198150" y="952575"/>
            <a:ext cx="3602100" cy="507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300" u="none" cap="none" strike="noStrike">
                <a:solidFill>
                  <a:srgbClr val="0F172A"/>
                </a:solidFill>
                <a:latin typeface="Plus Jakarta Sans"/>
                <a:ea typeface="Plus Jakarta Sans"/>
                <a:cs typeface="Plus Jakarta Sans"/>
                <a:sym typeface="Plus Jakarta Sans"/>
              </a:rPr>
              <a:t>Data vs Databas</a:t>
            </a:r>
            <a:r>
              <a:rPr b="1" lang="en-US" sz="3300">
                <a:solidFill>
                  <a:srgbClr val="0F172A"/>
                </a:solidFill>
                <a:latin typeface="Plus Jakarta Sans"/>
                <a:ea typeface="Plus Jakarta Sans"/>
                <a:cs typeface="Plus Jakarta Sans"/>
                <a:sym typeface="Plus Jakarta Sans"/>
              </a:rPr>
              <a:t>e</a:t>
            </a:r>
            <a:endParaRPr sz="2300"/>
          </a:p>
        </p:txBody>
      </p:sp>
      <p:sp>
        <p:nvSpPr>
          <p:cNvPr id="184" name="Google Shape;184;p19"/>
          <p:cNvSpPr txBox="1"/>
          <p:nvPr/>
        </p:nvSpPr>
        <p:spPr>
          <a:xfrm>
            <a:off x="923925" y="3258591"/>
            <a:ext cx="5519439"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lus Jakarta Sans"/>
                <a:ea typeface="Plus Jakarta Sans"/>
                <a:cs typeface="Plus Jakarta Sans"/>
                <a:sym typeface="Plus Jakarta Sans"/>
              </a:rPr>
              <a:t>1. What is DATA?</a:t>
            </a:r>
            <a:endParaRPr/>
          </a:p>
        </p:txBody>
      </p:sp>
      <p:sp>
        <p:nvSpPr>
          <p:cNvPr id="185" name="Google Shape;185;p19"/>
          <p:cNvSpPr txBox="1"/>
          <p:nvPr/>
        </p:nvSpPr>
        <p:spPr>
          <a:xfrm>
            <a:off x="923925" y="3620541"/>
            <a:ext cx="4300500" cy="4431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64748B"/>
                </a:solidFill>
                <a:latin typeface="Plus Jakarta Sans"/>
                <a:ea typeface="Plus Jakarta Sans"/>
                <a:cs typeface="Plus Jakarta Sans"/>
                <a:sym typeface="Plus Jakarta Sans"/>
              </a:rPr>
              <a:t>Raw unorganized ingredients. Just raw numbers, names, or values with zero meaning by themselves.</a:t>
            </a:r>
            <a:endParaRPr/>
          </a:p>
        </p:txBody>
      </p:sp>
      <p:sp>
        <p:nvSpPr>
          <p:cNvPr id="186" name="Google Shape;186;p19"/>
          <p:cNvSpPr txBox="1"/>
          <p:nvPr/>
        </p:nvSpPr>
        <p:spPr>
          <a:xfrm>
            <a:off x="5710237" y="4043362"/>
            <a:ext cx="1057275"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6366F1"/>
                </a:solidFill>
                <a:latin typeface="Plus Jakarta Sans"/>
                <a:ea typeface="Plus Jakarta Sans"/>
                <a:cs typeface="Plus Jakarta Sans"/>
                <a:sym typeface="Plus Jakarta Sans"/>
              </a:rPr>
              <a:t>STRUCTURED</a:t>
            </a:r>
            <a:endParaRPr/>
          </a:p>
        </p:txBody>
      </p:sp>
      <p:sp>
        <p:nvSpPr>
          <p:cNvPr id="187" name="Google Shape;187;p19"/>
          <p:cNvSpPr txBox="1"/>
          <p:nvPr/>
        </p:nvSpPr>
        <p:spPr>
          <a:xfrm>
            <a:off x="7062787" y="3258591"/>
            <a:ext cx="5129212" cy="2857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F172A"/>
                </a:solidFill>
                <a:latin typeface="Plus Jakarta Sans"/>
                <a:ea typeface="Plus Jakarta Sans"/>
                <a:cs typeface="Plus Jakarta Sans"/>
                <a:sym typeface="Plus Jakarta Sans"/>
              </a:rPr>
              <a:t>2. What is DATABASE?</a:t>
            </a:r>
            <a:endParaRPr/>
          </a:p>
        </p:txBody>
      </p:sp>
      <p:sp>
        <p:nvSpPr>
          <p:cNvPr id="188" name="Google Shape;188;p19"/>
          <p:cNvSpPr txBox="1"/>
          <p:nvPr/>
        </p:nvSpPr>
        <p:spPr>
          <a:xfrm>
            <a:off x="7062787" y="3620541"/>
            <a:ext cx="4300500" cy="443100"/>
          </a:xfrm>
          <a:prstGeom prst="rect">
            <a:avLst/>
          </a:prstGeom>
          <a:noFill/>
          <a:ln>
            <a:noFill/>
          </a:ln>
        </p:spPr>
        <p:txBody>
          <a:bodyPr anchorCtr="0" anchor="t" bIns="0" lIns="0" spcFirstLastPara="1" rIns="0" wrap="square" tIns="0">
            <a:spAutoFit/>
          </a:bodyPr>
          <a:lstStyle/>
          <a:p>
            <a:pPr indent="0" lvl="0" marL="0" marR="0" rtl="0" algn="l">
              <a:lnSpc>
                <a:spcPct val="139916"/>
              </a:lnSpc>
              <a:spcBef>
                <a:spcPts val="0"/>
              </a:spcBef>
              <a:spcAft>
                <a:spcPts val="0"/>
              </a:spcAft>
              <a:buNone/>
            </a:pPr>
            <a:r>
              <a:rPr b="0" i="0" lang="en-US" sz="1200" u="none" cap="none" strike="noStrike">
                <a:solidFill>
                  <a:srgbClr val="64748B"/>
                </a:solidFill>
                <a:latin typeface="Plus Jakarta Sans"/>
                <a:ea typeface="Plus Jakarta Sans"/>
                <a:cs typeface="Plus Jakarta Sans"/>
                <a:sym typeface="Plus Jakarta Sans"/>
              </a:rPr>
              <a:t>The cooked dish! An organized digital container that connects raw data logically for quick searching.</a:t>
            </a:r>
            <a:endParaRPr/>
          </a:p>
        </p:txBody>
      </p:sp>
      <p:sp>
        <p:nvSpPr>
          <p:cNvPr id="189" name="Google Shape;189;p19"/>
          <p:cNvSpPr txBox="1"/>
          <p:nvPr/>
        </p:nvSpPr>
        <p:spPr>
          <a:xfrm>
            <a:off x="1085850" y="4380458"/>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E11D48"/>
                </a:solidFill>
                <a:latin typeface="Plus Jakarta Sans"/>
                <a:ea typeface="Plus Jakarta Sans"/>
                <a:cs typeface="Plus Jakarta Sans"/>
                <a:sym typeface="Plus Jakarta Sans"/>
              </a:rPr>
              <a:t>COLLEGE EXAMPLE:</a:t>
            </a:r>
            <a:endParaRPr/>
          </a:p>
        </p:txBody>
      </p:sp>
      <p:sp>
        <p:nvSpPr>
          <p:cNvPr id="190" name="Google Shape;190;p19"/>
          <p:cNvSpPr txBox="1"/>
          <p:nvPr/>
        </p:nvSpPr>
        <p:spPr>
          <a:xfrm>
            <a:off x="1085850" y="4570958"/>
            <a:ext cx="4851796"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Plus Jakarta Sans"/>
                <a:ea typeface="Plus Jakarta Sans"/>
                <a:cs typeface="Plus Jakarta Sans"/>
                <a:sym typeface="Plus Jakarta Sans"/>
              </a:rPr>
              <a:t>"Rahul" , "94" , "DYP" , "Pune"</a:t>
            </a:r>
            <a:endParaRPr/>
          </a:p>
        </p:txBody>
      </p:sp>
      <p:sp>
        <p:nvSpPr>
          <p:cNvPr id="191" name="Google Shape;191;p19"/>
          <p:cNvSpPr txBox="1"/>
          <p:nvPr/>
        </p:nvSpPr>
        <p:spPr>
          <a:xfrm>
            <a:off x="1085850" y="4809083"/>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9F1239"/>
                </a:solidFill>
                <a:latin typeface="Plus Jakarta Sans"/>
                <a:ea typeface="Plus Jakarta Sans"/>
                <a:cs typeface="Plus Jakarta Sans"/>
                <a:sym typeface="Plus Jakarta Sans"/>
              </a:rPr>
              <a:t>(Who is 94? Marks? Age? We don't know!)</a:t>
            </a:r>
            <a:endParaRPr/>
          </a:p>
        </p:txBody>
      </p:sp>
      <p:sp>
        <p:nvSpPr>
          <p:cNvPr id="192" name="Google Shape;192;p19"/>
          <p:cNvSpPr txBox="1"/>
          <p:nvPr/>
        </p:nvSpPr>
        <p:spPr>
          <a:xfrm>
            <a:off x="7224712" y="4380458"/>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47857"/>
                </a:solidFill>
                <a:latin typeface="Plus Jakarta Sans"/>
                <a:ea typeface="Plus Jakarta Sans"/>
                <a:cs typeface="Plus Jakarta Sans"/>
                <a:sym typeface="Plus Jakarta Sans"/>
              </a:rPr>
              <a:t>COLLEGE EXAMPLE:</a:t>
            </a:r>
            <a:endParaRPr/>
          </a:p>
        </p:txBody>
      </p:sp>
      <p:sp>
        <p:nvSpPr>
          <p:cNvPr id="193" name="Google Shape;193;p19"/>
          <p:cNvSpPr txBox="1"/>
          <p:nvPr/>
        </p:nvSpPr>
        <p:spPr>
          <a:xfrm>
            <a:off x="7224712" y="4570958"/>
            <a:ext cx="4851796"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25" u="none" cap="none" strike="noStrike">
                <a:solidFill>
                  <a:srgbClr val="0F172A"/>
                </a:solidFill>
                <a:latin typeface="Plus Jakarta Sans"/>
                <a:ea typeface="Plus Jakarta Sans"/>
                <a:cs typeface="Plus Jakarta Sans"/>
                <a:sym typeface="Plus Jakarta Sans"/>
              </a:rPr>
              <a:t>"Student Rahul scored 94 marks at DYP!"</a:t>
            </a:r>
            <a:endParaRPr/>
          </a:p>
        </p:txBody>
      </p:sp>
      <p:sp>
        <p:nvSpPr>
          <p:cNvPr id="194" name="Google Shape;194;p19"/>
          <p:cNvSpPr txBox="1"/>
          <p:nvPr/>
        </p:nvSpPr>
        <p:spPr>
          <a:xfrm>
            <a:off x="7224712" y="4809083"/>
            <a:ext cx="4851796"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065F46"/>
                </a:solidFill>
                <a:latin typeface="Plus Jakarta Sans"/>
                <a:ea typeface="Plus Jakarta Sans"/>
                <a:cs typeface="Plus Jakarta Sans"/>
                <a:sym typeface="Plus Jakarta Sans"/>
              </a:rPr>
              <a:t>Stored in MCA Student Marks Record.</a:t>
            </a:r>
            <a:endParaRPr/>
          </a:p>
        </p:txBody>
      </p:sp>
      <p:sp>
        <p:nvSpPr>
          <p:cNvPr id="195" name="Google Shape;195;p19"/>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mph" presetID="8" presetSubtype="0">
                                  <p:stCondLst>
                                    <p:cond delay="0"/>
                                  </p:stCondLst>
                                  <p:childTnLst>
                                    <p:animRot by="-21600000">
                                      <p:cBhvr>
                                        <p:cTn dur="1000" fill="hold"/>
                                        <p:tgtEl>
                                          <p:spTgt spid="181"/>
                                        </p:tgtEl>
                                        <p:attrNameLst>
                                          <p:attrName>r</p:attrName>
                                        </p:attrNameLst>
                                      </p:cBhvr>
                                    </p:animRot>
                                  </p:childTnLst>
                                </p:cTn>
                              </p:par>
                              <p:par>
                                <p:cTn fill="hold" nodeType="withEffect" presetClass="entr" presetID="2" presetSubtype="2">
                                  <p:stCondLst>
                                    <p:cond delay="0"/>
                                  </p:stCondLst>
                                  <p:childTnLst>
                                    <p:set>
                                      <p:cBhvr>
                                        <p:cTn dur="1" fill="hold">
                                          <p:stCondLst>
                                            <p:cond delay="0"/>
                                          </p:stCondLst>
                                        </p:cTn>
                                        <p:tgtEl>
                                          <p:spTgt spid="185"/>
                                        </p:tgtEl>
                                        <p:attrNameLst>
                                          <p:attrName>style.visibility</p:attrName>
                                        </p:attrNameLst>
                                      </p:cBhvr>
                                      <p:to>
                                        <p:strVal val="visible"/>
                                      </p:to>
                                    </p:set>
                                    <p:anim calcmode="lin" valueType="num">
                                      <p:cBhvr additive="base">
                                        <p:cTn dur="1000"/>
                                        <p:tgtEl>
                                          <p:spTgt spid="18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188"/>
                                        </p:tgtEl>
                                        <p:attrNameLst>
                                          <p:attrName>style.visibility</p:attrName>
                                        </p:attrNameLst>
                                      </p:cBhvr>
                                      <p:to>
                                        <p:strVal val="visible"/>
                                      </p:to>
                                    </p:set>
                                    <p:anim calcmode="lin" valueType="num">
                                      <p:cBhvr additive="base">
                                        <p:cTn dur="1000"/>
                                        <p:tgtEl>
                                          <p:spTgt spid="18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9" name="Shape 199"/>
        <p:cNvGrpSpPr/>
        <p:nvPr/>
      </p:nvGrpSpPr>
      <p:grpSpPr>
        <a:xfrm>
          <a:off x="0" y="0"/>
          <a:ext cx="0" cy="0"/>
          <a:chOff x="0" y="0"/>
          <a:chExt cx="0" cy="0"/>
        </a:xfrm>
      </p:grpSpPr>
      <p:sp>
        <p:nvSpPr>
          <p:cNvPr id="200" name="Google Shape;200;p20"/>
          <p:cNvSpPr/>
          <p:nvPr/>
        </p:nvSpPr>
        <p:spPr>
          <a:xfrm>
            <a:off x="609600" y="2752725"/>
            <a:ext cx="2600325" cy="2209800"/>
          </a:xfrm>
          <a:prstGeom prst="roundRect">
            <a:avLst>
              <a:gd fmla="val 9482"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1" name="Google Shape;201;p20"/>
          <p:cNvSpPr/>
          <p:nvPr/>
        </p:nvSpPr>
        <p:spPr>
          <a:xfrm>
            <a:off x="3400425" y="2752725"/>
            <a:ext cx="2600325" cy="2209800"/>
          </a:xfrm>
          <a:prstGeom prst="roundRect">
            <a:avLst>
              <a:gd fmla="val 9482"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2" name="Google Shape;202;p20"/>
          <p:cNvSpPr/>
          <p:nvPr/>
        </p:nvSpPr>
        <p:spPr>
          <a:xfrm>
            <a:off x="6191250" y="2838450"/>
            <a:ext cx="2600325" cy="2038350"/>
          </a:xfrm>
          <a:prstGeom prst="roundRect">
            <a:avLst>
              <a:gd fmla="val 10280"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0"/>
          <p:cNvSpPr/>
          <p:nvPr/>
        </p:nvSpPr>
        <p:spPr>
          <a:xfrm>
            <a:off x="8982075" y="2838450"/>
            <a:ext cx="2600325" cy="2038350"/>
          </a:xfrm>
          <a:prstGeom prst="roundRect">
            <a:avLst>
              <a:gd fmla="val 10280"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4" name="Google Shape;204;p20"/>
          <p:cNvSpPr/>
          <p:nvPr/>
        </p:nvSpPr>
        <p:spPr>
          <a:xfrm>
            <a:off x="609600" y="2752725"/>
            <a:ext cx="2581275" cy="2190750"/>
          </a:xfrm>
          <a:prstGeom prst="roundRect">
            <a:avLst>
              <a:gd fmla="val 956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5" name="Google Shape;205;p20"/>
          <p:cNvSpPr/>
          <p:nvPr/>
        </p:nvSpPr>
        <p:spPr>
          <a:xfrm>
            <a:off x="809625" y="4314825"/>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6" name="Google Shape;206;p20"/>
          <p:cNvSpPr/>
          <p:nvPr/>
        </p:nvSpPr>
        <p:spPr>
          <a:xfrm>
            <a:off x="3400425" y="2752725"/>
            <a:ext cx="2581275" cy="2190750"/>
          </a:xfrm>
          <a:prstGeom prst="roundRect">
            <a:avLst>
              <a:gd fmla="val 956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7" name="Google Shape;207;p20"/>
          <p:cNvSpPr/>
          <p:nvPr/>
        </p:nvSpPr>
        <p:spPr>
          <a:xfrm>
            <a:off x="3600450" y="4314825"/>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8" name="Google Shape;208;p20"/>
          <p:cNvSpPr/>
          <p:nvPr/>
        </p:nvSpPr>
        <p:spPr>
          <a:xfrm>
            <a:off x="6191250" y="2838450"/>
            <a:ext cx="2581275" cy="2019300"/>
          </a:xfrm>
          <a:prstGeom prst="roundRect">
            <a:avLst>
              <a:gd fmla="val 1037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0"/>
          <p:cNvSpPr/>
          <p:nvPr/>
        </p:nvSpPr>
        <p:spPr>
          <a:xfrm>
            <a:off x="6391275" y="4229100"/>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20"/>
          <p:cNvSpPr/>
          <p:nvPr/>
        </p:nvSpPr>
        <p:spPr>
          <a:xfrm>
            <a:off x="8982075" y="2838450"/>
            <a:ext cx="2581275" cy="2019300"/>
          </a:xfrm>
          <a:prstGeom prst="roundRect">
            <a:avLst>
              <a:gd fmla="val 10377"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20"/>
          <p:cNvSpPr/>
          <p:nvPr/>
        </p:nvSpPr>
        <p:spPr>
          <a:xfrm>
            <a:off x="9182100" y="4229100"/>
            <a:ext cx="2200275" cy="390525"/>
          </a:xfrm>
          <a:prstGeom prst="roundRect">
            <a:avLst>
              <a:gd fmla="val 19512"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12" name="Google Shape;212;p20"/>
          <p:cNvPicPr preferRelativeResize="0"/>
          <p:nvPr/>
        </p:nvPicPr>
        <p:blipFill rotWithShape="1">
          <a:blip r:embed="rId3">
            <a:alphaModFix/>
          </a:blip>
          <a:srcRect b="0" l="0" r="0" t="0"/>
          <a:stretch/>
        </p:blipFill>
        <p:spPr>
          <a:xfrm>
            <a:off x="809625" y="3009900"/>
            <a:ext cx="419100" cy="419100"/>
          </a:xfrm>
          <a:prstGeom prst="rect">
            <a:avLst/>
          </a:prstGeom>
          <a:noFill/>
          <a:ln>
            <a:noFill/>
          </a:ln>
        </p:spPr>
      </p:pic>
      <p:pic>
        <p:nvPicPr>
          <p:cNvPr descr="image.png" id="213" name="Google Shape;213;p20"/>
          <p:cNvPicPr preferRelativeResize="0"/>
          <p:nvPr/>
        </p:nvPicPr>
        <p:blipFill rotWithShape="1">
          <a:blip r:embed="rId4">
            <a:alphaModFix/>
          </a:blip>
          <a:srcRect b="0" l="0" r="0" t="0"/>
          <a:stretch/>
        </p:blipFill>
        <p:spPr>
          <a:xfrm>
            <a:off x="3600450" y="3009900"/>
            <a:ext cx="419100" cy="419100"/>
          </a:xfrm>
          <a:prstGeom prst="rect">
            <a:avLst/>
          </a:prstGeom>
          <a:noFill/>
          <a:ln>
            <a:noFill/>
          </a:ln>
        </p:spPr>
      </p:pic>
      <p:pic>
        <p:nvPicPr>
          <p:cNvPr descr="image.png" id="214" name="Google Shape;214;p20"/>
          <p:cNvPicPr preferRelativeResize="0"/>
          <p:nvPr/>
        </p:nvPicPr>
        <p:blipFill rotWithShape="1">
          <a:blip r:embed="rId5">
            <a:alphaModFix/>
          </a:blip>
          <a:srcRect b="0" l="0" r="0" t="0"/>
          <a:stretch/>
        </p:blipFill>
        <p:spPr>
          <a:xfrm>
            <a:off x="6391275" y="3095625"/>
            <a:ext cx="419100" cy="419100"/>
          </a:xfrm>
          <a:prstGeom prst="rect">
            <a:avLst/>
          </a:prstGeom>
          <a:noFill/>
          <a:ln>
            <a:noFill/>
          </a:ln>
        </p:spPr>
      </p:pic>
      <p:pic>
        <p:nvPicPr>
          <p:cNvPr descr="image.png" id="215" name="Google Shape;215;p20"/>
          <p:cNvPicPr preferRelativeResize="0"/>
          <p:nvPr/>
        </p:nvPicPr>
        <p:blipFill rotWithShape="1">
          <a:blip r:embed="rId6">
            <a:alphaModFix/>
          </a:blip>
          <a:srcRect b="0" l="0" r="0" t="0"/>
          <a:stretch/>
        </p:blipFill>
        <p:spPr>
          <a:xfrm>
            <a:off x="9182100" y="3095625"/>
            <a:ext cx="419100" cy="419100"/>
          </a:xfrm>
          <a:prstGeom prst="rect">
            <a:avLst/>
          </a:prstGeom>
          <a:noFill/>
          <a:ln>
            <a:noFill/>
          </a:ln>
        </p:spPr>
      </p:pic>
      <p:pic>
        <p:nvPicPr>
          <p:cNvPr descr="image.png" id="216" name="Google Shape;216;p20"/>
          <p:cNvPicPr preferRelativeResize="0"/>
          <p:nvPr/>
        </p:nvPicPr>
        <p:blipFill rotWithShape="1">
          <a:blip r:embed="rId7">
            <a:alphaModFix/>
          </a:blip>
          <a:srcRect b="0" l="0" r="0" t="0"/>
          <a:stretch/>
        </p:blipFill>
        <p:spPr>
          <a:xfrm>
            <a:off x="947737" y="3124200"/>
            <a:ext cx="142875" cy="190500"/>
          </a:xfrm>
          <a:prstGeom prst="rect">
            <a:avLst/>
          </a:prstGeom>
          <a:noFill/>
          <a:ln>
            <a:noFill/>
          </a:ln>
        </p:spPr>
      </p:pic>
      <p:pic>
        <p:nvPicPr>
          <p:cNvPr descr="image.png" id="217" name="Google Shape;217;p20"/>
          <p:cNvPicPr preferRelativeResize="0"/>
          <p:nvPr/>
        </p:nvPicPr>
        <p:blipFill rotWithShape="1">
          <a:blip r:embed="rId8">
            <a:alphaModFix/>
          </a:blip>
          <a:srcRect b="0" l="0" r="0" t="0"/>
          <a:stretch/>
        </p:blipFill>
        <p:spPr>
          <a:xfrm>
            <a:off x="3714750" y="3124200"/>
            <a:ext cx="190500" cy="190500"/>
          </a:xfrm>
          <a:prstGeom prst="rect">
            <a:avLst/>
          </a:prstGeom>
          <a:noFill/>
          <a:ln>
            <a:noFill/>
          </a:ln>
        </p:spPr>
      </p:pic>
      <p:pic>
        <p:nvPicPr>
          <p:cNvPr descr="image.png" id="218" name="Google Shape;218;p20"/>
          <p:cNvPicPr preferRelativeResize="0"/>
          <p:nvPr/>
        </p:nvPicPr>
        <p:blipFill rotWithShape="1">
          <a:blip r:embed="rId9">
            <a:alphaModFix/>
          </a:blip>
          <a:srcRect b="0" l="0" r="0" t="0"/>
          <a:stretch/>
        </p:blipFill>
        <p:spPr>
          <a:xfrm>
            <a:off x="6481762" y="3209925"/>
            <a:ext cx="238125" cy="190500"/>
          </a:xfrm>
          <a:prstGeom prst="rect">
            <a:avLst/>
          </a:prstGeom>
          <a:noFill/>
          <a:ln>
            <a:noFill/>
          </a:ln>
        </p:spPr>
      </p:pic>
      <p:pic>
        <p:nvPicPr>
          <p:cNvPr descr="image.png" id="219" name="Google Shape;219;p20"/>
          <p:cNvPicPr preferRelativeResize="0"/>
          <p:nvPr/>
        </p:nvPicPr>
        <p:blipFill rotWithShape="1">
          <a:blip r:embed="rId10">
            <a:alphaModFix/>
          </a:blip>
          <a:srcRect b="0" l="0" r="0" t="0"/>
          <a:stretch/>
        </p:blipFill>
        <p:spPr>
          <a:xfrm>
            <a:off x="9272587" y="3209925"/>
            <a:ext cx="238125" cy="190500"/>
          </a:xfrm>
          <a:prstGeom prst="rect">
            <a:avLst/>
          </a:prstGeom>
          <a:noFill/>
          <a:ln>
            <a:noFill/>
          </a:ln>
        </p:spPr>
      </p:pic>
      <p:pic>
        <p:nvPicPr>
          <p:cNvPr descr="image.png" id="220" name="Google Shape;220;p20"/>
          <p:cNvPicPr preferRelativeResize="0"/>
          <p:nvPr/>
        </p:nvPicPr>
        <p:blipFill rotWithShape="1">
          <a:blip r:embed="rId11">
            <a:alphaModFix/>
          </a:blip>
          <a:srcRect b="0" l="0" r="0" t="0"/>
          <a:stretch/>
        </p:blipFill>
        <p:spPr>
          <a:xfrm>
            <a:off x="923925" y="4467225"/>
            <a:ext cx="104775" cy="123825"/>
          </a:xfrm>
          <a:prstGeom prst="rect">
            <a:avLst/>
          </a:prstGeom>
          <a:noFill/>
          <a:ln>
            <a:noFill/>
          </a:ln>
        </p:spPr>
      </p:pic>
      <p:pic>
        <p:nvPicPr>
          <p:cNvPr descr="image.png" id="221" name="Google Shape;221;p20"/>
          <p:cNvPicPr preferRelativeResize="0"/>
          <p:nvPr/>
        </p:nvPicPr>
        <p:blipFill rotWithShape="1">
          <a:blip r:embed="rId12">
            <a:alphaModFix/>
          </a:blip>
          <a:srcRect b="0" l="0" r="0" t="0"/>
          <a:stretch/>
        </p:blipFill>
        <p:spPr>
          <a:xfrm>
            <a:off x="3714750" y="4467225"/>
            <a:ext cx="104775" cy="123825"/>
          </a:xfrm>
          <a:prstGeom prst="rect">
            <a:avLst/>
          </a:prstGeom>
          <a:noFill/>
          <a:ln>
            <a:noFill/>
          </a:ln>
        </p:spPr>
      </p:pic>
      <p:pic>
        <p:nvPicPr>
          <p:cNvPr descr="image.png" id="222" name="Google Shape;222;p20"/>
          <p:cNvPicPr preferRelativeResize="0"/>
          <p:nvPr/>
        </p:nvPicPr>
        <p:blipFill rotWithShape="1">
          <a:blip r:embed="rId13">
            <a:alphaModFix/>
          </a:blip>
          <a:srcRect b="0" l="0" r="0" t="0"/>
          <a:stretch/>
        </p:blipFill>
        <p:spPr>
          <a:xfrm>
            <a:off x="6505575" y="4381500"/>
            <a:ext cx="104775" cy="123825"/>
          </a:xfrm>
          <a:prstGeom prst="rect">
            <a:avLst/>
          </a:prstGeom>
          <a:noFill/>
          <a:ln>
            <a:noFill/>
          </a:ln>
        </p:spPr>
      </p:pic>
      <p:pic>
        <p:nvPicPr>
          <p:cNvPr descr="image.png" id="223" name="Google Shape;223;p20"/>
          <p:cNvPicPr preferRelativeResize="0"/>
          <p:nvPr/>
        </p:nvPicPr>
        <p:blipFill rotWithShape="1">
          <a:blip r:embed="rId14">
            <a:alphaModFix/>
          </a:blip>
          <a:srcRect b="0" l="0" r="0" t="0"/>
          <a:stretch/>
        </p:blipFill>
        <p:spPr>
          <a:xfrm>
            <a:off x="9296400" y="4381500"/>
            <a:ext cx="104775" cy="123825"/>
          </a:xfrm>
          <a:prstGeom prst="rect">
            <a:avLst/>
          </a:prstGeom>
          <a:noFill/>
          <a:ln>
            <a:noFill/>
          </a:ln>
        </p:spPr>
      </p:pic>
      <p:sp>
        <p:nvSpPr>
          <p:cNvPr id="224" name="Google Shape;224;p20"/>
          <p:cNvSpPr txBox="1"/>
          <p:nvPr/>
        </p:nvSpPr>
        <p:spPr>
          <a:xfrm>
            <a:off x="4110000" y="1162050"/>
            <a:ext cx="39720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Classification of Data</a:t>
            </a:r>
            <a:endParaRPr sz="2000"/>
          </a:p>
        </p:txBody>
      </p:sp>
      <p:sp>
        <p:nvSpPr>
          <p:cNvPr id="225" name="Google Shape;225;p20"/>
          <p:cNvSpPr txBox="1"/>
          <p:nvPr/>
        </p:nvSpPr>
        <p:spPr>
          <a:xfrm>
            <a:off x="809625" y="3562350"/>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1. Quantitative</a:t>
            </a:r>
            <a:endParaRPr/>
          </a:p>
        </p:txBody>
      </p:sp>
      <p:sp>
        <p:nvSpPr>
          <p:cNvPr id="226" name="Google Shape;226;p20"/>
          <p:cNvSpPr txBox="1"/>
          <p:nvPr/>
        </p:nvSpPr>
        <p:spPr>
          <a:xfrm>
            <a:off x="809625" y="3838575"/>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Numbers you can measure &amp; calculate.</a:t>
            </a:r>
            <a:endParaRPr/>
          </a:p>
        </p:txBody>
      </p:sp>
      <p:sp>
        <p:nvSpPr>
          <p:cNvPr id="227" name="Google Shape;227;p20"/>
          <p:cNvSpPr txBox="1"/>
          <p:nvPr/>
        </p:nvSpPr>
        <p:spPr>
          <a:xfrm>
            <a:off x="923925" y="4410075"/>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 Ex: ₹65,000 Fees, 85% Marks</a:t>
            </a:r>
            <a:endParaRPr/>
          </a:p>
        </p:txBody>
      </p:sp>
      <p:sp>
        <p:nvSpPr>
          <p:cNvPr id="228" name="Google Shape;228;p20"/>
          <p:cNvSpPr txBox="1"/>
          <p:nvPr/>
        </p:nvSpPr>
        <p:spPr>
          <a:xfrm>
            <a:off x="3600450" y="3562350"/>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2. Qualitative</a:t>
            </a:r>
            <a:endParaRPr/>
          </a:p>
        </p:txBody>
      </p:sp>
      <p:sp>
        <p:nvSpPr>
          <p:cNvPr id="229" name="Google Shape;229;p20"/>
          <p:cNvSpPr txBox="1"/>
          <p:nvPr/>
        </p:nvSpPr>
        <p:spPr>
          <a:xfrm>
            <a:off x="3600450" y="3838575"/>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Words that describe qualities &amp; traits.</a:t>
            </a:r>
            <a:endParaRPr/>
          </a:p>
        </p:txBody>
      </p:sp>
      <p:sp>
        <p:nvSpPr>
          <p:cNvPr id="230" name="Google Shape;230;p20"/>
          <p:cNvSpPr txBox="1"/>
          <p:nvPr/>
        </p:nvSpPr>
        <p:spPr>
          <a:xfrm>
            <a:off x="3714750" y="4410075"/>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 Ex: Grade "A+", "Eligible"</a:t>
            </a:r>
            <a:endParaRPr/>
          </a:p>
        </p:txBody>
      </p:sp>
      <p:sp>
        <p:nvSpPr>
          <p:cNvPr id="231" name="Google Shape;231;p20"/>
          <p:cNvSpPr txBox="1"/>
          <p:nvPr/>
        </p:nvSpPr>
        <p:spPr>
          <a:xfrm>
            <a:off x="6391275" y="364807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3. Discrete</a:t>
            </a:r>
            <a:endParaRPr/>
          </a:p>
        </p:txBody>
      </p:sp>
      <p:sp>
        <p:nvSpPr>
          <p:cNvPr id="232" name="Google Shape;232;p20"/>
          <p:cNvSpPr txBox="1"/>
          <p:nvPr/>
        </p:nvSpPr>
        <p:spPr>
          <a:xfrm>
            <a:off x="6391275" y="3924300"/>
            <a:ext cx="2750343"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Exact whole items (no decimals).</a:t>
            </a:r>
            <a:endParaRPr/>
          </a:p>
        </p:txBody>
      </p:sp>
      <p:sp>
        <p:nvSpPr>
          <p:cNvPr id="233" name="Google Shape;233;p20"/>
          <p:cNvSpPr txBox="1"/>
          <p:nvPr/>
        </p:nvSpPr>
        <p:spPr>
          <a:xfrm>
            <a:off x="6505575" y="4324350"/>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D97706"/>
                </a:solidFill>
                <a:latin typeface="Plus Jakarta Sans"/>
                <a:ea typeface="Plus Jakarta Sans"/>
                <a:cs typeface="Plus Jakarta Sans"/>
                <a:sym typeface="Plus Jakarta Sans"/>
              </a:rPr>
              <a:t> Ex: 3 Members in Royal Group</a:t>
            </a:r>
            <a:endParaRPr/>
          </a:p>
        </p:txBody>
      </p:sp>
      <p:sp>
        <p:nvSpPr>
          <p:cNvPr id="234" name="Google Shape;234;p20"/>
          <p:cNvSpPr txBox="1"/>
          <p:nvPr/>
        </p:nvSpPr>
        <p:spPr>
          <a:xfrm>
            <a:off x="9182100" y="364807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4. Continuous</a:t>
            </a:r>
            <a:endParaRPr/>
          </a:p>
        </p:txBody>
      </p:sp>
      <p:sp>
        <p:nvSpPr>
          <p:cNvPr id="235" name="Google Shape;235;p20"/>
          <p:cNvSpPr txBox="1"/>
          <p:nvPr/>
        </p:nvSpPr>
        <p:spPr>
          <a:xfrm>
            <a:off x="9182100" y="3924300"/>
            <a:ext cx="2750343"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Changing metrics with decimals.</a:t>
            </a:r>
            <a:endParaRPr/>
          </a:p>
        </p:txBody>
      </p:sp>
      <p:sp>
        <p:nvSpPr>
          <p:cNvPr id="236" name="Google Shape;236;p20"/>
          <p:cNvSpPr txBox="1"/>
          <p:nvPr/>
        </p:nvSpPr>
        <p:spPr>
          <a:xfrm>
            <a:off x="9296400" y="4324350"/>
            <a:ext cx="206692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891B2"/>
                </a:solidFill>
                <a:latin typeface="Plus Jakarta Sans"/>
                <a:ea typeface="Plus Jakarta Sans"/>
                <a:cs typeface="Plus Jakarta Sans"/>
                <a:sym typeface="Plus Jakarta Sans"/>
              </a:rPr>
              <a:t> Ex: Laptop temp 42.6°C</a:t>
            </a:r>
            <a:endParaRPr/>
          </a:p>
        </p:txBody>
      </p:sp>
      <p:sp>
        <p:nvSpPr>
          <p:cNvPr id="237" name="Google Shape;237;p20"/>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1" name="Shape 241"/>
        <p:cNvGrpSpPr/>
        <p:nvPr/>
      </p:nvGrpSpPr>
      <p:grpSpPr>
        <a:xfrm>
          <a:off x="0" y="0"/>
          <a:ext cx="0" cy="0"/>
          <a:chOff x="0" y="0"/>
          <a:chExt cx="0" cy="0"/>
        </a:xfrm>
      </p:grpSpPr>
      <p:sp>
        <p:nvSpPr>
          <p:cNvPr id="242" name="Google Shape;242;p21"/>
          <p:cNvSpPr/>
          <p:nvPr/>
        </p:nvSpPr>
        <p:spPr>
          <a:xfrm>
            <a:off x="609600" y="2324100"/>
            <a:ext cx="5334000" cy="3067050"/>
          </a:xfrm>
          <a:prstGeom prst="roundRect">
            <a:avLst>
              <a:gd fmla="val 683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1"/>
          <p:cNvSpPr/>
          <p:nvPr/>
        </p:nvSpPr>
        <p:spPr>
          <a:xfrm>
            <a:off x="6248400" y="2324100"/>
            <a:ext cx="5334000" cy="3067050"/>
          </a:xfrm>
          <a:prstGeom prst="roundRect">
            <a:avLst>
              <a:gd fmla="val 683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1"/>
          <p:cNvSpPr/>
          <p:nvPr/>
        </p:nvSpPr>
        <p:spPr>
          <a:xfrm>
            <a:off x="609600" y="2324100"/>
            <a:ext cx="5314950" cy="3048000"/>
          </a:xfrm>
          <a:prstGeom prst="roundRect">
            <a:avLst>
              <a:gd fmla="val 687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1"/>
          <p:cNvSpPr/>
          <p:nvPr/>
        </p:nvSpPr>
        <p:spPr>
          <a:xfrm>
            <a:off x="923925" y="320992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21"/>
          <p:cNvSpPr/>
          <p:nvPr/>
        </p:nvSpPr>
        <p:spPr>
          <a:xfrm>
            <a:off x="923925" y="421957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21"/>
          <p:cNvSpPr/>
          <p:nvPr/>
        </p:nvSpPr>
        <p:spPr>
          <a:xfrm>
            <a:off x="6248400" y="2324100"/>
            <a:ext cx="5314950" cy="3048000"/>
          </a:xfrm>
          <a:prstGeom prst="roundRect">
            <a:avLst>
              <a:gd fmla="val 687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21"/>
          <p:cNvSpPr/>
          <p:nvPr/>
        </p:nvSpPr>
        <p:spPr>
          <a:xfrm>
            <a:off x="6562725" y="320992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1"/>
          <p:cNvSpPr/>
          <p:nvPr/>
        </p:nvSpPr>
        <p:spPr>
          <a:xfrm>
            <a:off x="6562725" y="4219575"/>
            <a:ext cx="4705350" cy="857250"/>
          </a:xfrm>
          <a:prstGeom prst="roundRect">
            <a:avLst>
              <a:gd fmla="val 11111" name="adj"/>
            </a:avLst>
          </a:prstGeom>
          <a:solidFill>
            <a:srgbClr val="F8FAF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50" name="Google Shape;250;p21"/>
          <p:cNvPicPr preferRelativeResize="0"/>
          <p:nvPr/>
        </p:nvPicPr>
        <p:blipFill rotWithShape="1">
          <a:blip r:embed="rId3">
            <a:alphaModFix/>
          </a:blip>
          <a:srcRect b="0" l="0" r="0" t="0"/>
          <a:stretch/>
        </p:blipFill>
        <p:spPr>
          <a:xfrm>
            <a:off x="923925" y="2638425"/>
            <a:ext cx="419100" cy="419100"/>
          </a:xfrm>
          <a:prstGeom prst="rect">
            <a:avLst/>
          </a:prstGeom>
          <a:noFill/>
          <a:ln>
            <a:noFill/>
          </a:ln>
        </p:spPr>
      </p:pic>
      <p:pic>
        <p:nvPicPr>
          <p:cNvPr descr="image.png" id="251" name="Google Shape;251;p21"/>
          <p:cNvPicPr preferRelativeResize="0"/>
          <p:nvPr/>
        </p:nvPicPr>
        <p:blipFill rotWithShape="1">
          <a:blip r:embed="rId4">
            <a:alphaModFix/>
          </a:blip>
          <a:srcRect b="0" l="0" r="0" t="0"/>
          <a:stretch/>
        </p:blipFill>
        <p:spPr>
          <a:xfrm>
            <a:off x="6562725" y="2638425"/>
            <a:ext cx="419100" cy="419100"/>
          </a:xfrm>
          <a:prstGeom prst="rect">
            <a:avLst/>
          </a:prstGeom>
          <a:noFill/>
          <a:ln>
            <a:noFill/>
          </a:ln>
        </p:spPr>
      </p:pic>
      <p:pic>
        <p:nvPicPr>
          <p:cNvPr descr="image.png" id="252" name="Google Shape;252;p21"/>
          <p:cNvPicPr preferRelativeResize="0"/>
          <p:nvPr/>
        </p:nvPicPr>
        <p:blipFill rotWithShape="1">
          <a:blip r:embed="rId5">
            <a:alphaModFix/>
          </a:blip>
          <a:srcRect b="0" l="0" r="0" t="0"/>
          <a:stretch/>
        </p:blipFill>
        <p:spPr>
          <a:xfrm>
            <a:off x="1014412" y="2752725"/>
            <a:ext cx="238125" cy="190500"/>
          </a:xfrm>
          <a:prstGeom prst="rect">
            <a:avLst/>
          </a:prstGeom>
          <a:noFill/>
          <a:ln>
            <a:noFill/>
          </a:ln>
        </p:spPr>
      </p:pic>
      <p:pic>
        <p:nvPicPr>
          <p:cNvPr descr="image.png" id="253" name="Google Shape;253;p21"/>
          <p:cNvPicPr preferRelativeResize="0"/>
          <p:nvPr/>
        </p:nvPicPr>
        <p:blipFill rotWithShape="1">
          <a:blip r:embed="rId6">
            <a:alphaModFix/>
          </a:blip>
          <a:srcRect b="0" l="0" r="0" t="0"/>
          <a:stretch/>
        </p:blipFill>
        <p:spPr>
          <a:xfrm>
            <a:off x="6662737" y="2752725"/>
            <a:ext cx="219075" cy="190500"/>
          </a:xfrm>
          <a:prstGeom prst="rect">
            <a:avLst/>
          </a:prstGeom>
          <a:noFill/>
          <a:ln>
            <a:noFill/>
          </a:ln>
        </p:spPr>
      </p:pic>
      <p:sp>
        <p:nvSpPr>
          <p:cNvPr id="254" name="Google Shape;254;p21"/>
          <p:cNvSpPr txBox="1"/>
          <p:nvPr/>
        </p:nvSpPr>
        <p:spPr>
          <a:xfrm>
            <a:off x="3516900" y="1014675"/>
            <a:ext cx="5158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Classification of Databases</a:t>
            </a:r>
            <a:endParaRPr sz="2000"/>
          </a:p>
        </p:txBody>
      </p:sp>
      <p:sp>
        <p:nvSpPr>
          <p:cNvPr id="255" name="Google Shape;255;p21"/>
          <p:cNvSpPr txBox="1"/>
          <p:nvPr/>
        </p:nvSpPr>
        <p:spPr>
          <a:xfrm>
            <a:off x="1038225" y="3438525"/>
            <a:ext cx="457200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Easy to manage, but if it dies, all stop!</a:t>
            </a:r>
            <a:endParaRPr/>
          </a:p>
        </p:txBody>
      </p:sp>
      <p:sp>
        <p:nvSpPr>
          <p:cNvPr id="256" name="Google Shape;256;p21"/>
          <p:cNvSpPr txBox="1"/>
          <p:nvPr/>
        </p:nvSpPr>
        <p:spPr>
          <a:xfrm>
            <a:off x="1110950" y="4309100"/>
            <a:ext cx="45720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Zero downtime! (E.g. WhatsApp, Netflix)</a:t>
            </a:r>
            <a:endParaRPr/>
          </a:p>
        </p:txBody>
      </p:sp>
      <p:sp>
        <p:nvSpPr>
          <p:cNvPr id="257" name="Google Shape;257;p21"/>
          <p:cNvSpPr txBox="1"/>
          <p:nvPr/>
        </p:nvSpPr>
        <p:spPr>
          <a:xfrm>
            <a:off x="6677025" y="3438525"/>
            <a:ext cx="4572000" cy="5143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891B2"/>
                </a:solidFill>
                <a:latin typeface="Plus Jakarta Sans"/>
                <a:ea typeface="Plus Jakarta Sans"/>
                <a:cs typeface="Plus Jakarta Sans"/>
                <a:sym typeface="Plus Jakarta Sans"/>
              </a:rPr>
              <a:t>Ex: Google Pay &amp; PhonePe UPI transfer</a:t>
            </a:r>
            <a:endParaRPr/>
          </a:p>
        </p:txBody>
      </p:sp>
      <p:sp>
        <p:nvSpPr>
          <p:cNvPr id="258" name="Google Shape;258;p21"/>
          <p:cNvSpPr txBox="1"/>
          <p:nvPr/>
        </p:nvSpPr>
        <p:spPr>
          <a:xfrm>
            <a:off x="6677025" y="4318675"/>
            <a:ext cx="45720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D97706"/>
                </a:solidFill>
                <a:latin typeface="Plus Jakarta Sans"/>
                <a:ea typeface="Plus Jakarta Sans"/>
                <a:cs typeface="Plus Jakarta Sans"/>
                <a:sym typeface="Plus Jakarta Sans"/>
              </a:rPr>
              <a:t>Ex: Amazon Big Billion Day sales analysis</a:t>
            </a:r>
            <a:endParaRPr/>
          </a:p>
        </p:txBody>
      </p:sp>
      <p:sp>
        <p:nvSpPr>
          <p:cNvPr id="259" name="Google Shape;259;p21"/>
          <p:cNvSpPr txBox="1"/>
          <p:nvPr/>
        </p:nvSpPr>
        <p:spPr>
          <a:xfrm>
            <a:off x="1457325" y="2714625"/>
            <a:ext cx="3100387"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A. By Physical Location</a:t>
            </a:r>
            <a:endParaRPr/>
          </a:p>
        </p:txBody>
      </p:sp>
      <p:sp>
        <p:nvSpPr>
          <p:cNvPr id="260" name="Google Shape;260;p21"/>
          <p:cNvSpPr txBox="1"/>
          <p:nvPr/>
        </p:nvSpPr>
        <p:spPr>
          <a:xfrm>
            <a:off x="1038225" y="3200400"/>
            <a:ext cx="587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1. Centralized Database</a:t>
            </a:r>
            <a:endParaRPr/>
          </a:p>
        </p:txBody>
      </p:sp>
      <p:sp>
        <p:nvSpPr>
          <p:cNvPr id="261" name="Google Shape;261;p21"/>
          <p:cNvSpPr txBox="1"/>
          <p:nvPr/>
        </p:nvSpPr>
        <p:spPr>
          <a:xfrm>
            <a:off x="1038225" y="3614838"/>
            <a:ext cx="5595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All files on one computer in the college lab.</a:t>
            </a:r>
            <a:endParaRPr/>
          </a:p>
        </p:txBody>
      </p:sp>
      <p:sp>
        <p:nvSpPr>
          <p:cNvPr id="262" name="Google Shape;262;p21"/>
          <p:cNvSpPr txBox="1"/>
          <p:nvPr/>
        </p:nvSpPr>
        <p:spPr>
          <a:xfrm>
            <a:off x="1038225" y="4050963"/>
            <a:ext cx="58758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2. Distributed Database</a:t>
            </a:r>
            <a:endParaRPr/>
          </a:p>
        </p:txBody>
      </p:sp>
      <p:sp>
        <p:nvSpPr>
          <p:cNvPr id="263" name="Google Shape;263;p21"/>
          <p:cNvSpPr txBox="1"/>
          <p:nvPr/>
        </p:nvSpPr>
        <p:spPr>
          <a:xfrm>
            <a:off x="1038213" y="4532425"/>
            <a:ext cx="5595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Copies spread across Mumbai, Delhi, &amp; Cloud.</a:t>
            </a:r>
            <a:endParaRPr/>
          </a:p>
        </p:txBody>
      </p:sp>
      <p:sp>
        <p:nvSpPr>
          <p:cNvPr id="264" name="Google Shape;264;p21"/>
          <p:cNvSpPr txBox="1"/>
          <p:nvPr/>
        </p:nvSpPr>
        <p:spPr>
          <a:xfrm>
            <a:off x="7096125" y="2714625"/>
            <a:ext cx="2762845"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B. By Workload Type</a:t>
            </a:r>
            <a:endParaRPr/>
          </a:p>
        </p:txBody>
      </p:sp>
      <p:sp>
        <p:nvSpPr>
          <p:cNvPr id="265" name="Google Shape;265;p21"/>
          <p:cNvSpPr txBox="1"/>
          <p:nvPr/>
        </p:nvSpPr>
        <p:spPr>
          <a:xfrm>
            <a:off x="6677063" y="3208013"/>
            <a:ext cx="5514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1. OLTP (Online Transactions)</a:t>
            </a:r>
            <a:endParaRPr/>
          </a:p>
        </p:txBody>
      </p:sp>
      <p:sp>
        <p:nvSpPr>
          <p:cNvPr id="266" name="Google Shape;266;p21"/>
          <p:cNvSpPr txBox="1"/>
          <p:nvPr/>
        </p:nvSpPr>
        <p:spPr>
          <a:xfrm>
            <a:off x="6677063" y="3641050"/>
            <a:ext cx="5514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Super fast debit/credit queries in real time.</a:t>
            </a:r>
            <a:endParaRPr/>
          </a:p>
        </p:txBody>
      </p:sp>
      <p:sp>
        <p:nvSpPr>
          <p:cNvPr id="267" name="Google Shape;267;p21"/>
          <p:cNvSpPr txBox="1"/>
          <p:nvPr/>
        </p:nvSpPr>
        <p:spPr>
          <a:xfrm>
            <a:off x="6677025" y="4100513"/>
            <a:ext cx="5514900" cy="18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2. OLAP (Online Analytics)</a:t>
            </a:r>
            <a:endParaRPr/>
          </a:p>
        </p:txBody>
      </p:sp>
      <p:sp>
        <p:nvSpPr>
          <p:cNvPr id="268" name="Google Shape;268;p21"/>
          <p:cNvSpPr txBox="1"/>
          <p:nvPr/>
        </p:nvSpPr>
        <p:spPr>
          <a:xfrm>
            <a:off x="6677038" y="4502025"/>
            <a:ext cx="55149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Deep reports analyzing past 5 years data.</a:t>
            </a:r>
            <a:endParaRPr/>
          </a:p>
        </p:txBody>
      </p:sp>
      <p:sp>
        <p:nvSpPr>
          <p:cNvPr id="269" name="Google Shape;269;p21"/>
          <p:cNvSpPr txBox="1"/>
          <p:nvPr/>
        </p:nvSpPr>
        <p:spPr>
          <a:xfrm>
            <a:off x="9655900" y="6184425"/>
            <a:ext cx="5595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Source - geeksforgeeks.org</a:t>
            </a:r>
            <a:endParaRPr sz="1500">
              <a:solidFill>
                <a:schemeClr val="dk1"/>
              </a:solidFill>
              <a:latin typeface="Calibri"/>
              <a:ea typeface="Calibri"/>
              <a:cs typeface="Calibri"/>
              <a:sym typeface="Calibri"/>
            </a:endParaRPr>
          </a:p>
        </p:txBody>
      </p:sp>
      <p:sp>
        <p:nvSpPr>
          <p:cNvPr id="270" name="Google Shape;270;p21"/>
          <p:cNvSpPr txBox="1"/>
          <p:nvPr/>
        </p:nvSpPr>
        <p:spPr>
          <a:xfrm>
            <a:off x="609600" y="631507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74" name="Shape 274"/>
        <p:cNvGrpSpPr/>
        <p:nvPr/>
      </p:nvGrpSpPr>
      <p:grpSpPr>
        <a:xfrm>
          <a:off x="0" y="0"/>
          <a:ext cx="0" cy="0"/>
          <a:chOff x="0" y="0"/>
          <a:chExt cx="0" cy="0"/>
        </a:xfrm>
      </p:grpSpPr>
      <p:sp>
        <p:nvSpPr>
          <p:cNvPr id="275" name="Google Shape;275;p22"/>
          <p:cNvSpPr/>
          <p:nvPr/>
        </p:nvSpPr>
        <p:spPr>
          <a:xfrm>
            <a:off x="609600"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2"/>
          <p:cNvSpPr/>
          <p:nvPr/>
        </p:nvSpPr>
        <p:spPr>
          <a:xfrm>
            <a:off x="3400425"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2"/>
          <p:cNvSpPr/>
          <p:nvPr/>
        </p:nvSpPr>
        <p:spPr>
          <a:xfrm>
            <a:off x="6191250"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2"/>
          <p:cNvSpPr/>
          <p:nvPr/>
        </p:nvSpPr>
        <p:spPr>
          <a:xfrm>
            <a:off x="8982075" y="2876550"/>
            <a:ext cx="2600325" cy="1962150"/>
          </a:xfrm>
          <a:prstGeom prst="roundRect">
            <a:avLst>
              <a:gd fmla="val 1067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2"/>
          <p:cNvSpPr/>
          <p:nvPr/>
        </p:nvSpPr>
        <p:spPr>
          <a:xfrm>
            <a:off x="609600"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0" name="Google Shape;280;p22"/>
          <p:cNvSpPr/>
          <p:nvPr/>
        </p:nvSpPr>
        <p:spPr>
          <a:xfrm>
            <a:off x="809625" y="4371975"/>
            <a:ext cx="1104900" cy="209550"/>
          </a:xfrm>
          <a:prstGeom prst="roundRect">
            <a:avLst>
              <a:gd fmla="val 27272" name="adj"/>
            </a:avLst>
          </a:prstGeom>
          <a:solidFill>
            <a:srgbClr val="EEF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1" name="Google Shape;281;p22"/>
          <p:cNvSpPr/>
          <p:nvPr/>
        </p:nvSpPr>
        <p:spPr>
          <a:xfrm>
            <a:off x="3400425"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22"/>
          <p:cNvSpPr/>
          <p:nvPr/>
        </p:nvSpPr>
        <p:spPr>
          <a:xfrm>
            <a:off x="3600450" y="4371975"/>
            <a:ext cx="790575" cy="209550"/>
          </a:xfrm>
          <a:prstGeom prst="roundRect">
            <a:avLst>
              <a:gd fmla="val 27272" name="adj"/>
            </a:avLst>
          </a:prstGeom>
          <a:solidFill>
            <a:srgbClr val="ECFD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3" name="Google Shape;283;p22"/>
          <p:cNvSpPr/>
          <p:nvPr/>
        </p:nvSpPr>
        <p:spPr>
          <a:xfrm>
            <a:off x="6191250"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4" name="Google Shape;284;p22"/>
          <p:cNvSpPr/>
          <p:nvPr/>
        </p:nvSpPr>
        <p:spPr>
          <a:xfrm>
            <a:off x="6391275" y="4371975"/>
            <a:ext cx="1323975" cy="209550"/>
          </a:xfrm>
          <a:prstGeom prst="roundRect">
            <a:avLst>
              <a:gd fmla="val 27272" name="adj"/>
            </a:avLst>
          </a:prstGeom>
          <a:solidFill>
            <a:srgbClr val="FFFBE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5" name="Google Shape;285;p22"/>
          <p:cNvSpPr/>
          <p:nvPr/>
        </p:nvSpPr>
        <p:spPr>
          <a:xfrm>
            <a:off x="8982075" y="2876550"/>
            <a:ext cx="2581275" cy="1943100"/>
          </a:xfrm>
          <a:prstGeom prst="roundRect">
            <a:avLst>
              <a:gd fmla="val 107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6" name="Google Shape;286;p22"/>
          <p:cNvSpPr/>
          <p:nvPr/>
        </p:nvSpPr>
        <p:spPr>
          <a:xfrm>
            <a:off x="9182100" y="4371975"/>
            <a:ext cx="952500" cy="209550"/>
          </a:xfrm>
          <a:prstGeom prst="roundRect">
            <a:avLst>
              <a:gd fmla="val 27272" name="adj"/>
            </a:avLst>
          </a:prstGeom>
          <a:solidFill>
            <a:srgbClr val="FFF1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87" name="Google Shape;287;p22"/>
          <p:cNvPicPr preferRelativeResize="0"/>
          <p:nvPr/>
        </p:nvPicPr>
        <p:blipFill rotWithShape="1">
          <a:blip r:embed="rId3">
            <a:alphaModFix/>
          </a:blip>
          <a:srcRect b="0" l="0" r="0" t="0"/>
          <a:stretch/>
        </p:blipFill>
        <p:spPr>
          <a:xfrm>
            <a:off x="809625" y="3181350"/>
            <a:ext cx="304800" cy="304800"/>
          </a:xfrm>
          <a:prstGeom prst="rect">
            <a:avLst/>
          </a:prstGeom>
          <a:noFill/>
          <a:ln>
            <a:noFill/>
          </a:ln>
        </p:spPr>
      </p:pic>
      <p:pic>
        <p:nvPicPr>
          <p:cNvPr descr="image.png" id="288" name="Google Shape;288;p22"/>
          <p:cNvPicPr preferRelativeResize="0"/>
          <p:nvPr/>
        </p:nvPicPr>
        <p:blipFill rotWithShape="1">
          <a:blip r:embed="rId4">
            <a:alphaModFix/>
          </a:blip>
          <a:srcRect b="0" l="0" r="0" t="0"/>
          <a:stretch/>
        </p:blipFill>
        <p:spPr>
          <a:xfrm>
            <a:off x="3600450" y="3181350"/>
            <a:ext cx="228600" cy="304800"/>
          </a:xfrm>
          <a:prstGeom prst="rect">
            <a:avLst/>
          </a:prstGeom>
          <a:noFill/>
          <a:ln>
            <a:noFill/>
          </a:ln>
        </p:spPr>
      </p:pic>
      <p:pic>
        <p:nvPicPr>
          <p:cNvPr descr="image.png" id="289" name="Google Shape;289;p22"/>
          <p:cNvPicPr preferRelativeResize="0"/>
          <p:nvPr/>
        </p:nvPicPr>
        <p:blipFill rotWithShape="1">
          <a:blip r:embed="rId5">
            <a:alphaModFix/>
          </a:blip>
          <a:srcRect b="0" l="0" r="0" t="0"/>
          <a:stretch/>
        </p:blipFill>
        <p:spPr>
          <a:xfrm>
            <a:off x="6391275" y="3181350"/>
            <a:ext cx="304800" cy="304800"/>
          </a:xfrm>
          <a:prstGeom prst="rect">
            <a:avLst/>
          </a:prstGeom>
          <a:noFill/>
          <a:ln>
            <a:noFill/>
          </a:ln>
        </p:spPr>
      </p:pic>
      <p:pic>
        <p:nvPicPr>
          <p:cNvPr descr="image.png" id="290" name="Google Shape;290;p22"/>
          <p:cNvPicPr preferRelativeResize="0"/>
          <p:nvPr/>
        </p:nvPicPr>
        <p:blipFill rotWithShape="1">
          <a:blip r:embed="rId6">
            <a:alphaModFix/>
          </a:blip>
          <a:srcRect b="0" l="0" r="0" t="0"/>
          <a:stretch/>
        </p:blipFill>
        <p:spPr>
          <a:xfrm>
            <a:off x="9182100" y="3181350"/>
            <a:ext cx="266700" cy="304800"/>
          </a:xfrm>
          <a:prstGeom prst="rect">
            <a:avLst/>
          </a:prstGeom>
          <a:noFill/>
          <a:ln>
            <a:noFill/>
          </a:ln>
        </p:spPr>
      </p:pic>
      <p:sp>
        <p:nvSpPr>
          <p:cNvPr id="291" name="Google Shape;291;p22"/>
          <p:cNvSpPr txBox="1"/>
          <p:nvPr/>
        </p:nvSpPr>
        <p:spPr>
          <a:xfrm>
            <a:off x="2177975" y="1295000"/>
            <a:ext cx="115824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0F172A"/>
                </a:solidFill>
                <a:latin typeface="Plus Jakarta Sans"/>
                <a:ea typeface="Plus Jakarta Sans"/>
                <a:cs typeface="Plus Jakarta Sans"/>
                <a:sym typeface="Plus Jakarta Sans"/>
              </a:rPr>
              <a:t>Major Types of Modern Databases</a:t>
            </a:r>
            <a:endParaRPr sz="2600"/>
          </a:p>
        </p:txBody>
      </p:sp>
      <p:sp>
        <p:nvSpPr>
          <p:cNvPr id="292" name="Google Shape;292;p22"/>
          <p:cNvSpPr txBox="1"/>
          <p:nvPr/>
        </p:nvSpPr>
        <p:spPr>
          <a:xfrm>
            <a:off x="809625"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Relational (RDBMS)</a:t>
            </a:r>
            <a:endParaRPr/>
          </a:p>
        </p:txBody>
      </p:sp>
      <p:sp>
        <p:nvSpPr>
          <p:cNvPr id="293" name="Google Shape;293;p22"/>
          <p:cNvSpPr txBox="1"/>
          <p:nvPr/>
        </p:nvSpPr>
        <p:spPr>
          <a:xfrm>
            <a:off x="809625"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Organized into rows and columns with fixed tables.</a:t>
            </a:r>
            <a:endParaRPr/>
          </a:p>
        </p:txBody>
      </p:sp>
      <p:sp>
        <p:nvSpPr>
          <p:cNvPr id="294" name="Google Shape;294;p22"/>
          <p:cNvSpPr txBox="1"/>
          <p:nvPr/>
        </p:nvSpPr>
        <p:spPr>
          <a:xfrm>
            <a:off x="904875" y="4400550"/>
            <a:ext cx="10096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MySQL, Oracle</a:t>
            </a:r>
            <a:endParaRPr/>
          </a:p>
        </p:txBody>
      </p:sp>
      <p:sp>
        <p:nvSpPr>
          <p:cNvPr id="295" name="Google Shape;295;p22"/>
          <p:cNvSpPr txBox="1"/>
          <p:nvPr/>
        </p:nvSpPr>
        <p:spPr>
          <a:xfrm>
            <a:off x="3600450"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Document (NoSQL)</a:t>
            </a:r>
            <a:endParaRPr/>
          </a:p>
        </p:txBody>
      </p:sp>
      <p:sp>
        <p:nvSpPr>
          <p:cNvPr id="296" name="Google Shape;296;p22"/>
          <p:cNvSpPr txBox="1"/>
          <p:nvPr/>
        </p:nvSpPr>
        <p:spPr>
          <a:xfrm>
            <a:off x="3600450"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Stores JSON docs without fixed table rules.</a:t>
            </a:r>
            <a:endParaRPr/>
          </a:p>
        </p:txBody>
      </p:sp>
      <p:sp>
        <p:nvSpPr>
          <p:cNvPr id="297" name="Google Shape;297;p22"/>
          <p:cNvSpPr txBox="1"/>
          <p:nvPr/>
        </p:nvSpPr>
        <p:spPr>
          <a:xfrm>
            <a:off x="3695700" y="4400550"/>
            <a:ext cx="6953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MongoDB</a:t>
            </a:r>
            <a:endParaRPr/>
          </a:p>
        </p:txBody>
      </p:sp>
      <p:sp>
        <p:nvSpPr>
          <p:cNvPr id="298" name="Google Shape;298;p22"/>
          <p:cNvSpPr txBox="1"/>
          <p:nvPr/>
        </p:nvSpPr>
        <p:spPr>
          <a:xfrm>
            <a:off x="6391275"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Graph Database</a:t>
            </a:r>
            <a:endParaRPr/>
          </a:p>
        </p:txBody>
      </p:sp>
      <p:sp>
        <p:nvSpPr>
          <p:cNvPr id="299" name="Google Shape;299;p22"/>
          <p:cNvSpPr txBox="1"/>
          <p:nvPr/>
        </p:nvSpPr>
        <p:spPr>
          <a:xfrm>
            <a:off x="6391275"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Connects friend circles &amp; followers instantly.</a:t>
            </a:r>
            <a:endParaRPr/>
          </a:p>
        </p:txBody>
      </p:sp>
      <p:sp>
        <p:nvSpPr>
          <p:cNvPr id="300" name="Google Shape;300;p22"/>
          <p:cNvSpPr txBox="1"/>
          <p:nvPr/>
        </p:nvSpPr>
        <p:spPr>
          <a:xfrm>
            <a:off x="6486525" y="4400550"/>
            <a:ext cx="122872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B45309"/>
                </a:solidFill>
                <a:latin typeface="Plus Jakarta Sans"/>
                <a:ea typeface="Plus Jakarta Sans"/>
                <a:cs typeface="Plus Jakarta Sans"/>
                <a:sym typeface="Plus Jakarta Sans"/>
              </a:rPr>
              <a:t>Neo4j, Social Apps</a:t>
            </a:r>
            <a:endParaRPr/>
          </a:p>
        </p:txBody>
      </p:sp>
      <p:sp>
        <p:nvSpPr>
          <p:cNvPr id="301" name="Google Shape;301;p22"/>
          <p:cNvSpPr txBox="1"/>
          <p:nvPr/>
        </p:nvSpPr>
        <p:spPr>
          <a:xfrm>
            <a:off x="9182100" y="3629025"/>
            <a:ext cx="2887860"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In-Memory (Cache)</a:t>
            </a:r>
            <a:endParaRPr/>
          </a:p>
        </p:txBody>
      </p:sp>
      <p:sp>
        <p:nvSpPr>
          <p:cNvPr id="302" name="Google Shape;302;p22"/>
          <p:cNvSpPr txBox="1"/>
          <p:nvPr/>
        </p:nvSpPr>
        <p:spPr>
          <a:xfrm>
            <a:off x="9182100" y="3905250"/>
            <a:ext cx="22955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Superfast RAM storage for OTPs &amp; logins.</a:t>
            </a:r>
            <a:endParaRPr/>
          </a:p>
        </p:txBody>
      </p:sp>
      <p:sp>
        <p:nvSpPr>
          <p:cNvPr id="303" name="Google Shape;303;p22"/>
          <p:cNvSpPr txBox="1"/>
          <p:nvPr/>
        </p:nvSpPr>
        <p:spPr>
          <a:xfrm>
            <a:off x="9277350" y="4400550"/>
            <a:ext cx="8572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E11D48"/>
                </a:solidFill>
                <a:latin typeface="Plus Jakarta Sans"/>
                <a:ea typeface="Plus Jakarta Sans"/>
                <a:cs typeface="Plus Jakarta Sans"/>
                <a:sym typeface="Plus Jakarta Sans"/>
              </a:rPr>
              <a:t>Redis Cache</a:t>
            </a:r>
            <a:endParaRPr/>
          </a:p>
        </p:txBody>
      </p:sp>
      <p:sp>
        <p:nvSpPr>
          <p:cNvPr id="304" name="Google Shape;304;p22"/>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08" name="Shape 308"/>
        <p:cNvGrpSpPr/>
        <p:nvPr/>
      </p:nvGrpSpPr>
      <p:grpSpPr>
        <a:xfrm>
          <a:off x="0" y="0"/>
          <a:ext cx="0" cy="0"/>
          <a:chOff x="0" y="0"/>
          <a:chExt cx="0" cy="0"/>
        </a:xfrm>
      </p:grpSpPr>
      <p:sp>
        <p:nvSpPr>
          <p:cNvPr id="309" name="Google Shape;309;p23"/>
          <p:cNvSpPr/>
          <p:nvPr/>
        </p:nvSpPr>
        <p:spPr>
          <a:xfrm>
            <a:off x="609600"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0" name="Google Shape;310;p23"/>
          <p:cNvSpPr/>
          <p:nvPr/>
        </p:nvSpPr>
        <p:spPr>
          <a:xfrm>
            <a:off x="3400425"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23"/>
          <p:cNvSpPr/>
          <p:nvPr/>
        </p:nvSpPr>
        <p:spPr>
          <a:xfrm>
            <a:off x="6191250"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2" name="Google Shape;312;p23"/>
          <p:cNvSpPr/>
          <p:nvPr/>
        </p:nvSpPr>
        <p:spPr>
          <a:xfrm>
            <a:off x="8982075" y="3028950"/>
            <a:ext cx="2600325" cy="1657350"/>
          </a:xfrm>
          <a:prstGeom prst="roundRect">
            <a:avLst>
              <a:gd fmla="val 12643"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3" name="Google Shape;313;p23"/>
          <p:cNvSpPr/>
          <p:nvPr/>
        </p:nvSpPr>
        <p:spPr>
          <a:xfrm>
            <a:off x="609600"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4" name="Google Shape;314;p23"/>
          <p:cNvSpPr/>
          <p:nvPr/>
        </p:nvSpPr>
        <p:spPr>
          <a:xfrm>
            <a:off x="3400425"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5" name="Google Shape;315;p23"/>
          <p:cNvSpPr/>
          <p:nvPr/>
        </p:nvSpPr>
        <p:spPr>
          <a:xfrm>
            <a:off x="6191250"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6" name="Google Shape;316;p23"/>
          <p:cNvSpPr/>
          <p:nvPr/>
        </p:nvSpPr>
        <p:spPr>
          <a:xfrm>
            <a:off x="8982075" y="3028950"/>
            <a:ext cx="2581275" cy="1638300"/>
          </a:xfrm>
          <a:prstGeom prst="roundRect">
            <a:avLst>
              <a:gd fmla="val 1279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7" name="Google Shape;317;p23"/>
          <p:cNvSpPr txBox="1"/>
          <p:nvPr/>
        </p:nvSpPr>
        <p:spPr>
          <a:xfrm>
            <a:off x="2049963" y="1260075"/>
            <a:ext cx="115824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Evolution: How Databases Became Smart</a:t>
            </a:r>
            <a:endParaRPr sz="2000"/>
          </a:p>
        </p:txBody>
      </p:sp>
      <p:sp>
        <p:nvSpPr>
          <p:cNvPr id="318" name="Google Shape;318;p23"/>
          <p:cNvSpPr txBox="1"/>
          <p:nvPr/>
        </p:nvSpPr>
        <p:spPr>
          <a:xfrm>
            <a:off x="781050"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64748B"/>
                </a:solidFill>
                <a:latin typeface="Plus Jakarta Sans"/>
                <a:ea typeface="Plus Jakarta Sans"/>
                <a:cs typeface="Plus Jakarta Sans"/>
                <a:sym typeface="Plus Jakarta Sans"/>
              </a:rPr>
              <a:t>STEP 01 (1960s) </a:t>
            </a:r>
            <a:r>
              <a:rPr b="1" i="0" lang="en-US" sz="975" u="none" cap="none" strike="noStrike">
                <a:solidFill>
                  <a:srgbClr val="475569"/>
                </a:solidFill>
                <a:latin typeface="Plus Jakarta Sans"/>
                <a:ea typeface="Plus Jakarta Sans"/>
                <a:cs typeface="Plus Jakarta Sans"/>
                <a:sym typeface="Plus Jakarta Sans"/>
              </a:rPr>
              <a:t>IBM IMS era</a:t>
            </a:r>
            <a:endParaRPr/>
          </a:p>
        </p:txBody>
      </p:sp>
      <p:sp>
        <p:nvSpPr>
          <p:cNvPr id="319" name="Google Shape;319;p23"/>
          <p:cNvSpPr txBox="1"/>
          <p:nvPr/>
        </p:nvSpPr>
        <p:spPr>
          <a:xfrm>
            <a:off x="3571875"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STEP 02 (1980s) Oracle, SQL Server</a:t>
            </a:r>
            <a:endParaRPr/>
          </a:p>
        </p:txBody>
      </p:sp>
      <p:sp>
        <p:nvSpPr>
          <p:cNvPr id="320" name="Google Shape;320;p23"/>
          <p:cNvSpPr txBox="1"/>
          <p:nvPr/>
        </p:nvSpPr>
        <p:spPr>
          <a:xfrm>
            <a:off x="6362700"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F172A"/>
                </a:solidFill>
                <a:latin typeface="Plus Jakarta Sans"/>
                <a:ea typeface="Plus Jakarta Sans"/>
                <a:cs typeface="Plus Jakarta Sans"/>
                <a:sym typeface="Plus Jakarta Sans"/>
              </a:rPr>
              <a:t>STEP 03 (2000s) </a:t>
            </a:r>
            <a:r>
              <a:rPr b="1" i="0" lang="en-US" sz="975" u="none" cap="none" strike="noStrike">
                <a:solidFill>
                  <a:srgbClr val="059669"/>
                </a:solidFill>
                <a:latin typeface="Plus Jakarta Sans"/>
                <a:ea typeface="Plus Jakarta Sans"/>
                <a:cs typeface="Plus Jakarta Sans"/>
                <a:sym typeface="Plus Jakarta Sans"/>
              </a:rPr>
              <a:t>MongoDB, Cassandra</a:t>
            </a:r>
            <a:endParaRPr/>
          </a:p>
        </p:txBody>
      </p:sp>
      <p:sp>
        <p:nvSpPr>
          <p:cNvPr id="321" name="Google Shape;321;p23"/>
          <p:cNvSpPr txBox="1"/>
          <p:nvPr/>
        </p:nvSpPr>
        <p:spPr>
          <a:xfrm>
            <a:off x="9153525" y="3257550"/>
            <a:ext cx="2352675" cy="12001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891B2"/>
                </a:solidFill>
                <a:latin typeface="Plus Jakarta Sans"/>
                <a:ea typeface="Plus Jakarta Sans"/>
                <a:cs typeface="Plus Jakarta Sans"/>
                <a:sym typeface="Plus Jakarta Sans"/>
              </a:rPr>
              <a:t>STEP 04 (TODAY) CockroachDB, Pinecone</a:t>
            </a:r>
            <a:endParaRPr/>
          </a:p>
        </p:txBody>
      </p:sp>
      <p:sp>
        <p:nvSpPr>
          <p:cNvPr id="322" name="Google Shape;322;p23"/>
          <p:cNvSpPr txBox="1"/>
          <p:nvPr/>
        </p:nvSpPr>
        <p:spPr>
          <a:xfrm>
            <a:off x="790575"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Flat Files &amp; Trees</a:t>
            </a:r>
            <a:endParaRPr/>
          </a:p>
        </p:txBody>
      </p:sp>
      <p:sp>
        <p:nvSpPr>
          <p:cNvPr id="323" name="Google Shape;323;p23"/>
          <p:cNvSpPr txBox="1"/>
          <p:nvPr/>
        </p:nvSpPr>
        <p:spPr>
          <a:xfrm>
            <a:off x="790575"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Simple punch-cards &amp; text files with severe data duplication.</a:t>
            </a:r>
            <a:endParaRPr/>
          </a:p>
        </p:txBody>
      </p:sp>
      <p:sp>
        <p:nvSpPr>
          <p:cNvPr id="324" name="Google Shape;324;p23"/>
          <p:cNvSpPr txBox="1"/>
          <p:nvPr/>
        </p:nvSpPr>
        <p:spPr>
          <a:xfrm>
            <a:off x="3581400"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The SQL Revolution</a:t>
            </a:r>
            <a:endParaRPr/>
          </a:p>
        </p:txBody>
      </p:sp>
      <p:sp>
        <p:nvSpPr>
          <p:cNvPr id="325" name="Google Shape;325;p23"/>
          <p:cNvSpPr txBox="1"/>
          <p:nvPr/>
        </p:nvSpPr>
        <p:spPr>
          <a:xfrm>
            <a:off x="3581400"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Tables, Primary Keys, and ACID guarantees. Clean and safe.</a:t>
            </a:r>
            <a:endParaRPr/>
          </a:p>
        </p:txBody>
      </p:sp>
      <p:sp>
        <p:nvSpPr>
          <p:cNvPr id="326" name="Google Shape;326;p23"/>
          <p:cNvSpPr txBox="1"/>
          <p:nvPr/>
        </p:nvSpPr>
        <p:spPr>
          <a:xfrm>
            <a:off x="6372225"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NoSQL &amp; Web Big Data</a:t>
            </a:r>
            <a:endParaRPr/>
          </a:p>
        </p:txBody>
      </p:sp>
      <p:sp>
        <p:nvSpPr>
          <p:cNvPr id="327" name="Google Shape;327;p23"/>
          <p:cNvSpPr txBox="1"/>
          <p:nvPr/>
        </p:nvSpPr>
        <p:spPr>
          <a:xfrm>
            <a:off x="6372225"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Built for social media feeds, posts, and petabytes of data.</a:t>
            </a:r>
            <a:endParaRPr/>
          </a:p>
        </p:txBody>
      </p:sp>
      <p:sp>
        <p:nvSpPr>
          <p:cNvPr id="328" name="Google Shape;328;p23"/>
          <p:cNvSpPr txBox="1"/>
          <p:nvPr/>
        </p:nvSpPr>
        <p:spPr>
          <a:xfrm>
            <a:off x="9163050" y="3543300"/>
            <a:ext cx="2937867" cy="209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NewSQL &amp; Vector AI</a:t>
            </a:r>
            <a:endParaRPr/>
          </a:p>
        </p:txBody>
      </p:sp>
      <p:sp>
        <p:nvSpPr>
          <p:cNvPr id="329" name="Google Shape;329;p23"/>
          <p:cNvSpPr txBox="1"/>
          <p:nvPr/>
        </p:nvSpPr>
        <p:spPr>
          <a:xfrm>
            <a:off x="9163050" y="3810000"/>
            <a:ext cx="2333625" cy="342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Global multi-region cloud + AI Embeddings for ChatGPT.</a:t>
            </a:r>
            <a:endParaRPr/>
          </a:p>
        </p:txBody>
      </p:sp>
      <p:sp>
        <p:nvSpPr>
          <p:cNvPr id="330" name="Google Shape;330;p23"/>
          <p:cNvSpPr txBox="1"/>
          <p:nvPr/>
        </p:nvSpPr>
        <p:spPr>
          <a:xfrm>
            <a:off x="9478825" y="6241125"/>
            <a:ext cx="30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Source - geeksforgeeks.org</a:t>
            </a:r>
            <a:endParaRPr sz="1500">
              <a:solidFill>
                <a:schemeClr val="dk1"/>
              </a:solidFill>
              <a:latin typeface="Calibri"/>
              <a:ea typeface="Calibri"/>
              <a:cs typeface="Calibri"/>
              <a:sym typeface="Calibri"/>
            </a:endParaRPr>
          </a:p>
        </p:txBody>
      </p:sp>
      <p:sp>
        <p:nvSpPr>
          <p:cNvPr id="331" name="Google Shape;331;p23"/>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35" name="Shape 335"/>
        <p:cNvGrpSpPr/>
        <p:nvPr/>
      </p:nvGrpSpPr>
      <p:grpSpPr>
        <a:xfrm>
          <a:off x="0" y="0"/>
          <a:ext cx="0" cy="0"/>
          <a:chOff x="0" y="0"/>
          <a:chExt cx="0" cy="0"/>
        </a:xfrm>
      </p:grpSpPr>
      <p:sp>
        <p:nvSpPr>
          <p:cNvPr id="336" name="Google Shape;336;p24"/>
          <p:cNvSpPr/>
          <p:nvPr/>
        </p:nvSpPr>
        <p:spPr>
          <a:xfrm>
            <a:off x="609600" y="2533650"/>
            <a:ext cx="5334000" cy="2609850"/>
          </a:xfrm>
          <a:prstGeom prst="roundRect">
            <a:avLst>
              <a:gd fmla="val 8029"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4"/>
          <p:cNvSpPr/>
          <p:nvPr/>
        </p:nvSpPr>
        <p:spPr>
          <a:xfrm>
            <a:off x="6248400" y="2519362"/>
            <a:ext cx="5334000" cy="2638425"/>
          </a:xfrm>
          <a:prstGeom prst="roundRect">
            <a:avLst>
              <a:gd fmla="val 7942"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24"/>
          <p:cNvSpPr/>
          <p:nvPr/>
        </p:nvSpPr>
        <p:spPr>
          <a:xfrm>
            <a:off x="609600" y="2533650"/>
            <a:ext cx="5314950" cy="2590800"/>
          </a:xfrm>
          <a:prstGeom prst="roundRect">
            <a:avLst>
              <a:gd fmla="val 8088"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9" name="Google Shape;339;p24"/>
          <p:cNvSpPr/>
          <p:nvPr/>
        </p:nvSpPr>
        <p:spPr>
          <a:xfrm>
            <a:off x="885825" y="3819525"/>
            <a:ext cx="4781550" cy="1047750"/>
          </a:xfrm>
          <a:prstGeom prst="roundRect">
            <a:avLst>
              <a:gd fmla="val 9090"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24"/>
          <p:cNvSpPr/>
          <p:nvPr/>
        </p:nvSpPr>
        <p:spPr>
          <a:xfrm>
            <a:off x="6248400" y="2519362"/>
            <a:ext cx="5314950" cy="2619375"/>
          </a:xfrm>
          <a:prstGeom prst="roundRect">
            <a:avLst>
              <a:gd fmla="val 8000"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4"/>
          <p:cNvSpPr/>
          <p:nvPr/>
        </p:nvSpPr>
        <p:spPr>
          <a:xfrm>
            <a:off x="6524625" y="3805237"/>
            <a:ext cx="4781550" cy="1076325"/>
          </a:xfrm>
          <a:prstGeom prst="roundRect">
            <a:avLst>
              <a:gd fmla="val 8849" name="adj"/>
            </a:avLst>
          </a:prstGeom>
          <a:solidFill>
            <a:srgbClr val="F8FAFC"/>
          </a:solidFill>
          <a:ln cap="flat" cmpd="sng" w="952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4"/>
          <p:cNvSpPr/>
          <p:nvPr/>
        </p:nvSpPr>
        <p:spPr>
          <a:xfrm>
            <a:off x="1028700" y="4181475"/>
            <a:ext cx="4495800" cy="266700"/>
          </a:xfrm>
          <a:prstGeom prst="roundRect">
            <a:avLst>
              <a:gd fmla="val 21428" name="adj"/>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4"/>
          <p:cNvSpPr/>
          <p:nvPr/>
        </p:nvSpPr>
        <p:spPr>
          <a:xfrm>
            <a:off x="6667500" y="4167187"/>
            <a:ext cx="4495800" cy="571500"/>
          </a:xfrm>
          <a:prstGeom prst="roundRect">
            <a:avLst>
              <a:gd fmla="val 13333"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44" name="Google Shape;344;p24"/>
          <p:cNvPicPr preferRelativeResize="0"/>
          <p:nvPr/>
        </p:nvPicPr>
        <p:blipFill rotWithShape="1">
          <a:blip r:embed="rId3">
            <a:alphaModFix/>
          </a:blip>
          <a:srcRect b="0" l="0" r="0" t="0"/>
          <a:stretch/>
        </p:blipFill>
        <p:spPr>
          <a:xfrm>
            <a:off x="885825" y="2809875"/>
            <a:ext cx="381000" cy="381000"/>
          </a:xfrm>
          <a:prstGeom prst="rect">
            <a:avLst/>
          </a:prstGeom>
          <a:noFill/>
          <a:ln>
            <a:noFill/>
          </a:ln>
        </p:spPr>
      </p:pic>
      <p:pic>
        <p:nvPicPr>
          <p:cNvPr descr="image.png" id="345" name="Google Shape;345;p24"/>
          <p:cNvPicPr preferRelativeResize="0"/>
          <p:nvPr/>
        </p:nvPicPr>
        <p:blipFill rotWithShape="1">
          <a:blip r:embed="rId4">
            <a:alphaModFix/>
          </a:blip>
          <a:srcRect b="0" l="0" r="0" t="0"/>
          <a:stretch/>
        </p:blipFill>
        <p:spPr>
          <a:xfrm>
            <a:off x="6524625" y="2795587"/>
            <a:ext cx="381000" cy="381000"/>
          </a:xfrm>
          <a:prstGeom prst="rect">
            <a:avLst/>
          </a:prstGeom>
          <a:noFill/>
          <a:ln>
            <a:noFill/>
          </a:ln>
        </p:spPr>
      </p:pic>
      <p:pic>
        <p:nvPicPr>
          <p:cNvPr descr="image.png" id="346" name="Google Shape;346;p24"/>
          <p:cNvPicPr preferRelativeResize="0"/>
          <p:nvPr/>
        </p:nvPicPr>
        <p:blipFill rotWithShape="1">
          <a:blip r:embed="rId5">
            <a:alphaModFix/>
          </a:blip>
          <a:srcRect b="0" l="0" r="0" t="0"/>
          <a:stretch/>
        </p:blipFill>
        <p:spPr>
          <a:xfrm>
            <a:off x="981075" y="2905125"/>
            <a:ext cx="190500" cy="190500"/>
          </a:xfrm>
          <a:prstGeom prst="rect">
            <a:avLst/>
          </a:prstGeom>
          <a:noFill/>
          <a:ln>
            <a:noFill/>
          </a:ln>
        </p:spPr>
      </p:pic>
      <p:pic>
        <p:nvPicPr>
          <p:cNvPr descr="image.png" id="347" name="Google Shape;347;p24"/>
          <p:cNvPicPr preferRelativeResize="0"/>
          <p:nvPr/>
        </p:nvPicPr>
        <p:blipFill rotWithShape="1">
          <a:blip r:embed="rId6">
            <a:alphaModFix/>
          </a:blip>
          <a:srcRect b="0" l="0" r="0" t="0"/>
          <a:stretch/>
        </p:blipFill>
        <p:spPr>
          <a:xfrm>
            <a:off x="6619875" y="2890837"/>
            <a:ext cx="190500" cy="190500"/>
          </a:xfrm>
          <a:prstGeom prst="rect">
            <a:avLst/>
          </a:prstGeom>
          <a:noFill/>
          <a:ln>
            <a:noFill/>
          </a:ln>
        </p:spPr>
      </p:pic>
      <p:pic>
        <p:nvPicPr>
          <p:cNvPr descr="image.png" id="348" name="Google Shape;348;p24"/>
          <p:cNvPicPr preferRelativeResize="0"/>
          <p:nvPr/>
        </p:nvPicPr>
        <p:blipFill rotWithShape="1">
          <a:blip r:embed="rId7">
            <a:alphaModFix/>
          </a:blip>
          <a:srcRect b="0" l="0" r="0" t="0"/>
          <a:stretch/>
        </p:blipFill>
        <p:spPr>
          <a:xfrm>
            <a:off x="6967537" y="4262437"/>
            <a:ext cx="190500" cy="190500"/>
          </a:xfrm>
          <a:prstGeom prst="rect">
            <a:avLst/>
          </a:prstGeom>
          <a:noFill/>
          <a:ln>
            <a:noFill/>
          </a:ln>
        </p:spPr>
      </p:pic>
      <p:pic>
        <p:nvPicPr>
          <p:cNvPr descr="image.png" id="349" name="Google Shape;349;p24"/>
          <p:cNvPicPr preferRelativeResize="0"/>
          <p:nvPr/>
        </p:nvPicPr>
        <p:blipFill rotWithShape="1">
          <a:blip r:embed="rId8">
            <a:alphaModFix/>
          </a:blip>
          <a:srcRect b="0" l="0" r="0" t="0"/>
          <a:stretch/>
        </p:blipFill>
        <p:spPr>
          <a:xfrm>
            <a:off x="8147000" y="4262437"/>
            <a:ext cx="219075" cy="190500"/>
          </a:xfrm>
          <a:prstGeom prst="rect">
            <a:avLst/>
          </a:prstGeom>
          <a:noFill/>
          <a:ln>
            <a:noFill/>
          </a:ln>
        </p:spPr>
      </p:pic>
      <p:pic>
        <p:nvPicPr>
          <p:cNvPr descr="image.png" id="350" name="Google Shape;350;p24"/>
          <p:cNvPicPr preferRelativeResize="0"/>
          <p:nvPr/>
        </p:nvPicPr>
        <p:blipFill rotWithShape="1">
          <a:blip r:embed="rId9">
            <a:alphaModFix/>
          </a:blip>
          <a:srcRect b="0" l="0" r="0" t="0"/>
          <a:stretch/>
        </p:blipFill>
        <p:spPr>
          <a:xfrm>
            <a:off x="9393138" y="4262437"/>
            <a:ext cx="190500" cy="190500"/>
          </a:xfrm>
          <a:prstGeom prst="rect">
            <a:avLst/>
          </a:prstGeom>
          <a:noFill/>
          <a:ln>
            <a:noFill/>
          </a:ln>
        </p:spPr>
      </p:pic>
      <p:pic>
        <p:nvPicPr>
          <p:cNvPr descr="image.png" id="351" name="Google Shape;351;p24"/>
          <p:cNvPicPr preferRelativeResize="0"/>
          <p:nvPr/>
        </p:nvPicPr>
        <p:blipFill rotWithShape="1">
          <a:blip r:embed="rId10">
            <a:alphaModFix/>
          </a:blip>
          <a:srcRect b="0" l="0" r="0" t="0"/>
          <a:stretch/>
        </p:blipFill>
        <p:spPr>
          <a:xfrm>
            <a:off x="10658326" y="4262437"/>
            <a:ext cx="238125" cy="190500"/>
          </a:xfrm>
          <a:prstGeom prst="rect">
            <a:avLst/>
          </a:prstGeom>
          <a:noFill/>
          <a:ln>
            <a:noFill/>
          </a:ln>
        </p:spPr>
      </p:pic>
      <p:sp>
        <p:nvSpPr>
          <p:cNvPr id="352" name="Google Shape;352;p24"/>
          <p:cNvSpPr txBox="1"/>
          <p:nvPr/>
        </p:nvSpPr>
        <p:spPr>
          <a:xfrm>
            <a:off x="3567150" y="1009900"/>
            <a:ext cx="50577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Structured vs Unstructured </a:t>
            </a:r>
            <a:endParaRPr sz="2000"/>
          </a:p>
        </p:txBody>
      </p:sp>
      <p:sp>
        <p:nvSpPr>
          <p:cNvPr id="353" name="Google Shape;353;p24"/>
          <p:cNvSpPr txBox="1"/>
          <p:nvPr/>
        </p:nvSpPr>
        <p:spPr>
          <a:xfrm>
            <a:off x="885825" y="3324225"/>
            <a:ext cx="48768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Neatly organized in rows &amp; columns like an Excel sheet or SQL table. Easy to search with queries.</a:t>
            </a:r>
            <a:endParaRPr/>
          </a:p>
        </p:txBody>
      </p:sp>
      <p:sp>
        <p:nvSpPr>
          <p:cNvPr id="354" name="Google Shape;354;p24"/>
          <p:cNvSpPr txBox="1"/>
          <p:nvPr/>
        </p:nvSpPr>
        <p:spPr>
          <a:xfrm>
            <a:off x="6524625" y="3309937"/>
            <a:ext cx="487680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No rows, no predefined format. Huge in volume and needs AI or special tools to understand.</a:t>
            </a:r>
            <a:endParaRPr/>
          </a:p>
        </p:txBody>
      </p:sp>
      <p:sp>
        <p:nvSpPr>
          <p:cNvPr id="355" name="Google Shape;355;p24"/>
          <p:cNvSpPr txBox="1"/>
          <p:nvPr/>
        </p:nvSpPr>
        <p:spPr>
          <a:xfrm>
            <a:off x="1381125" y="2867025"/>
            <a:ext cx="30504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Structured Data </a:t>
            </a:r>
            <a:endParaRPr/>
          </a:p>
        </p:txBody>
      </p:sp>
      <p:sp>
        <p:nvSpPr>
          <p:cNvPr id="356" name="Google Shape;356;p24"/>
          <p:cNvSpPr txBox="1"/>
          <p:nvPr/>
        </p:nvSpPr>
        <p:spPr>
          <a:xfrm>
            <a:off x="1028700" y="3962400"/>
            <a:ext cx="561975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4F46E5"/>
                </a:solidFill>
                <a:latin typeface="Plus Jakarta Sans"/>
                <a:ea typeface="Plus Jakarta Sans"/>
                <a:cs typeface="Plus Jakarta Sans"/>
                <a:sym typeface="Plus Jakarta Sans"/>
              </a:rPr>
              <a:t>FIGURE: MCA STUDENT TABLE</a:t>
            </a:r>
            <a:endParaRPr/>
          </a:p>
        </p:txBody>
      </p:sp>
      <p:sp>
        <p:nvSpPr>
          <p:cNvPr id="357" name="Google Shape;357;p24"/>
          <p:cNvSpPr txBox="1"/>
          <p:nvPr/>
        </p:nvSpPr>
        <p:spPr>
          <a:xfrm>
            <a:off x="7019925" y="2852737"/>
            <a:ext cx="33879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F172A"/>
                </a:solidFill>
                <a:latin typeface="Plus Jakarta Sans"/>
                <a:ea typeface="Plus Jakarta Sans"/>
                <a:cs typeface="Plus Jakarta Sans"/>
                <a:sym typeface="Plus Jakarta Sans"/>
              </a:rPr>
              <a:t>Unstructured Data </a:t>
            </a:r>
            <a:endParaRPr/>
          </a:p>
        </p:txBody>
      </p:sp>
      <p:sp>
        <p:nvSpPr>
          <p:cNvPr id="358" name="Google Shape;358;p24"/>
          <p:cNvSpPr txBox="1"/>
          <p:nvPr/>
        </p:nvSpPr>
        <p:spPr>
          <a:xfrm>
            <a:off x="6667500" y="3948112"/>
            <a:ext cx="5524500" cy="1428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00" u="none" cap="none" strike="noStrike">
                <a:solidFill>
                  <a:srgbClr val="F43F5E"/>
                </a:solidFill>
                <a:latin typeface="Plus Jakarta Sans"/>
                <a:ea typeface="Plus Jakarta Sans"/>
                <a:cs typeface="Plus Jakarta Sans"/>
                <a:sym typeface="Plus Jakarta Sans"/>
              </a:rPr>
              <a:t>FIGURE: MEDIA EXAMPLES</a:t>
            </a:r>
            <a:endParaRPr/>
          </a:p>
        </p:txBody>
      </p:sp>
      <p:sp>
        <p:nvSpPr>
          <p:cNvPr id="359" name="Google Shape;359;p24"/>
          <p:cNvSpPr txBox="1"/>
          <p:nvPr/>
        </p:nvSpPr>
        <p:spPr>
          <a:xfrm>
            <a:off x="1085850" y="42386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Roll No</a:t>
            </a:r>
            <a:endParaRPr/>
          </a:p>
        </p:txBody>
      </p:sp>
      <p:sp>
        <p:nvSpPr>
          <p:cNvPr id="360" name="Google Shape;360;p24"/>
          <p:cNvSpPr txBox="1"/>
          <p:nvPr/>
        </p:nvSpPr>
        <p:spPr>
          <a:xfrm>
            <a:off x="2546300" y="42386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Student</a:t>
            </a:r>
            <a:endParaRPr/>
          </a:p>
        </p:txBody>
      </p:sp>
      <p:sp>
        <p:nvSpPr>
          <p:cNvPr id="361" name="Google Shape;361;p24"/>
          <p:cNvSpPr txBox="1"/>
          <p:nvPr/>
        </p:nvSpPr>
        <p:spPr>
          <a:xfrm>
            <a:off x="4006750" y="42386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1E293B"/>
                </a:solidFill>
                <a:latin typeface="Plus Jakarta Sans"/>
                <a:ea typeface="Plus Jakarta Sans"/>
                <a:cs typeface="Plus Jakarta Sans"/>
                <a:sym typeface="Plus Jakarta Sans"/>
              </a:rPr>
              <a:t>Group</a:t>
            </a:r>
            <a:endParaRPr/>
          </a:p>
        </p:txBody>
      </p:sp>
      <p:sp>
        <p:nvSpPr>
          <p:cNvPr id="362" name="Google Shape;362;p24"/>
          <p:cNvSpPr txBox="1"/>
          <p:nvPr/>
        </p:nvSpPr>
        <p:spPr>
          <a:xfrm>
            <a:off x="1085850" y="45053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34155"/>
                </a:solidFill>
                <a:latin typeface="Plus Jakarta Sans"/>
                <a:ea typeface="Plus Jakarta Sans"/>
                <a:cs typeface="Plus Jakarta Sans"/>
                <a:sym typeface="Plus Jakarta Sans"/>
              </a:rPr>
              <a:t>101</a:t>
            </a:r>
            <a:endParaRPr/>
          </a:p>
        </p:txBody>
      </p:sp>
      <p:sp>
        <p:nvSpPr>
          <p:cNvPr id="363" name="Google Shape;363;p24"/>
          <p:cNvSpPr txBox="1"/>
          <p:nvPr/>
        </p:nvSpPr>
        <p:spPr>
          <a:xfrm>
            <a:off x="2546300" y="45053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975" u="none" cap="none" strike="noStrike">
                <a:solidFill>
                  <a:srgbClr val="334155"/>
                </a:solidFill>
                <a:latin typeface="Plus Jakarta Sans"/>
                <a:ea typeface="Plus Jakarta Sans"/>
                <a:cs typeface="Plus Jakarta Sans"/>
                <a:sym typeface="Plus Jakarta Sans"/>
              </a:rPr>
              <a:t>Sameer</a:t>
            </a:r>
            <a:endParaRPr/>
          </a:p>
        </p:txBody>
      </p:sp>
      <p:sp>
        <p:nvSpPr>
          <p:cNvPr id="364" name="Google Shape;364;p24"/>
          <p:cNvSpPr txBox="1"/>
          <p:nvPr/>
        </p:nvSpPr>
        <p:spPr>
          <a:xfrm>
            <a:off x="4006750" y="4505325"/>
            <a:ext cx="1825562"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4F46E5"/>
                </a:solidFill>
                <a:latin typeface="Plus Jakarta Sans"/>
                <a:ea typeface="Plus Jakarta Sans"/>
                <a:cs typeface="Plus Jakarta Sans"/>
                <a:sym typeface="Plus Jakarta Sans"/>
              </a:rPr>
              <a:t>Royal</a:t>
            </a:r>
            <a:endParaRPr/>
          </a:p>
        </p:txBody>
      </p:sp>
      <p:sp>
        <p:nvSpPr>
          <p:cNvPr id="365" name="Google Shape;365;p24"/>
          <p:cNvSpPr txBox="1"/>
          <p:nvPr/>
        </p:nvSpPr>
        <p:spPr>
          <a:xfrm>
            <a:off x="6619875" y="4500562"/>
            <a:ext cx="88582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Exam PDFs</a:t>
            </a:r>
            <a:endParaRPr/>
          </a:p>
        </p:txBody>
      </p:sp>
      <p:sp>
        <p:nvSpPr>
          <p:cNvPr id="366" name="Google Shape;366;p24"/>
          <p:cNvSpPr txBox="1"/>
          <p:nvPr/>
        </p:nvSpPr>
        <p:spPr>
          <a:xfrm>
            <a:off x="7880300" y="4500562"/>
            <a:ext cx="75247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Lectures</a:t>
            </a:r>
            <a:endParaRPr/>
          </a:p>
        </p:txBody>
      </p:sp>
      <p:sp>
        <p:nvSpPr>
          <p:cNvPr id="367" name="Google Shape;367;p24"/>
          <p:cNvSpPr txBox="1"/>
          <p:nvPr/>
        </p:nvSpPr>
        <p:spPr>
          <a:xfrm>
            <a:off x="9007375" y="4500562"/>
            <a:ext cx="96202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Audio Notes</a:t>
            </a:r>
            <a:endParaRPr/>
          </a:p>
        </p:txBody>
      </p:sp>
      <p:sp>
        <p:nvSpPr>
          <p:cNvPr id="368" name="Google Shape;368;p24"/>
          <p:cNvSpPr txBox="1"/>
          <p:nvPr/>
        </p:nvSpPr>
        <p:spPr>
          <a:xfrm>
            <a:off x="10344001" y="4500562"/>
            <a:ext cx="866775" cy="1428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900" u="none" cap="none" strike="noStrike">
                <a:solidFill>
                  <a:srgbClr val="000000"/>
                </a:solidFill>
                <a:latin typeface="Plus Jakarta Sans"/>
                <a:ea typeface="Plus Jakarta Sans"/>
                <a:cs typeface="Plus Jakarta Sans"/>
                <a:sym typeface="Plus Jakarta Sans"/>
              </a:rPr>
              <a:t>WhatsApp</a:t>
            </a:r>
            <a:endParaRPr/>
          </a:p>
        </p:txBody>
      </p:sp>
      <p:sp>
        <p:nvSpPr>
          <p:cNvPr id="369" name="Google Shape;369;p24"/>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73" name="Shape 373"/>
        <p:cNvGrpSpPr/>
        <p:nvPr/>
      </p:nvGrpSpPr>
      <p:grpSpPr>
        <a:xfrm>
          <a:off x="0" y="0"/>
          <a:ext cx="0" cy="0"/>
          <a:chOff x="0" y="0"/>
          <a:chExt cx="0" cy="0"/>
        </a:xfrm>
      </p:grpSpPr>
      <p:sp>
        <p:nvSpPr>
          <p:cNvPr id="374" name="Google Shape;374;p25"/>
          <p:cNvSpPr txBox="1"/>
          <p:nvPr/>
        </p:nvSpPr>
        <p:spPr>
          <a:xfrm>
            <a:off x="3859650" y="689950"/>
            <a:ext cx="4472700" cy="78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900">
                <a:solidFill>
                  <a:schemeClr val="accent2"/>
                </a:solidFill>
                <a:latin typeface="Plus Jakarta Sans"/>
                <a:ea typeface="Plus Jakarta Sans"/>
                <a:cs typeface="Plus Jakarta Sans"/>
                <a:sym typeface="Plus Jakarta Sans"/>
              </a:rPr>
              <a:t>DBMS </a:t>
            </a:r>
            <a:r>
              <a:rPr b="1" lang="en-US" sz="3900">
                <a:solidFill>
                  <a:schemeClr val="accent2"/>
                </a:solidFill>
                <a:latin typeface="Plus Jakarta Sans"/>
                <a:ea typeface="Plus Jakarta Sans"/>
                <a:cs typeface="Plus Jakarta Sans"/>
                <a:sym typeface="Plus Jakarta Sans"/>
              </a:rPr>
              <a:t>Languages</a:t>
            </a:r>
            <a:endParaRPr sz="2900">
              <a:solidFill>
                <a:schemeClr val="accent2"/>
              </a:solidFill>
            </a:endParaRPr>
          </a:p>
        </p:txBody>
      </p:sp>
      <p:graphicFrame>
        <p:nvGraphicFramePr>
          <p:cNvPr id="375" name="Google Shape;375;p25"/>
          <p:cNvGraphicFramePr/>
          <p:nvPr/>
        </p:nvGraphicFramePr>
        <p:xfrm>
          <a:off x="1223350" y="1760875"/>
          <a:ext cx="3000000" cy="3000000"/>
        </p:xfrm>
        <a:graphic>
          <a:graphicData uri="http://schemas.openxmlformats.org/drawingml/2006/table">
            <a:tbl>
              <a:tblPr>
                <a:noFill/>
                <a:tableStyleId>{D4413C98-0C90-48F8-BC5E-262764F4E38D}</a:tableStyleId>
              </a:tblPr>
              <a:tblGrid>
                <a:gridCol w="9533300"/>
              </a:tblGrid>
              <a:tr h="86977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DDL: Data Definition Language</a:t>
                      </a:r>
                      <a:endParaRPr/>
                    </a:p>
                  </a:txBody>
                  <a:tcPr marT="91425" marB="91425" marR="91425" marL="91425"/>
                </a:tc>
              </a:tr>
              <a:tr h="775125">
                <a:tc>
                  <a:txBody>
                    <a:bodyPr/>
                    <a:lstStyle/>
                    <a:p>
                      <a:pPr indent="0" lvl="0" marL="0" rtl="0" algn="ctr">
                        <a:spcBef>
                          <a:spcPts val="0"/>
                        </a:spcBef>
                        <a:spcAft>
                          <a:spcPts val="0"/>
                        </a:spcAft>
                        <a:buNone/>
                      </a:pPr>
                      <a:r>
                        <a:rPr b="1" lang="en-US" sz="2600">
                          <a:solidFill>
                            <a:srgbClr val="0F172A"/>
                          </a:solidFill>
                          <a:latin typeface="Plus Jakarta Sans"/>
                          <a:ea typeface="Plus Jakarta Sans"/>
                          <a:cs typeface="Plus Jakarta Sans"/>
                          <a:sym typeface="Plus Jakarta Sans"/>
                        </a:rPr>
                        <a:t>DML: Data Manipulation Language</a:t>
                      </a:r>
                      <a:endParaRPr sz="1100"/>
                    </a:p>
                  </a:txBody>
                  <a:tcPr marT="91425" marB="91425" marR="91425" marL="91425"/>
                </a:tc>
              </a:tr>
              <a:tr h="73432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DCL: Data Control Language</a:t>
                      </a:r>
                      <a:endParaRPr/>
                    </a:p>
                  </a:txBody>
                  <a:tcPr marT="91425" marB="91425" marR="91425" marL="91425"/>
                </a:tc>
              </a:tr>
              <a:tr h="73432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DQL: Data Query Language</a:t>
                      </a:r>
                      <a:endParaRPr/>
                    </a:p>
                  </a:txBody>
                  <a:tcPr marT="91425" marB="91425" marR="91425" marL="91425"/>
                </a:tc>
              </a:tr>
              <a:tr h="734325">
                <a:tc>
                  <a:txBody>
                    <a:bodyPr/>
                    <a:lstStyle/>
                    <a:p>
                      <a:pPr indent="0" lvl="0" marL="0" rtl="0" algn="ctr">
                        <a:spcBef>
                          <a:spcPts val="0"/>
                        </a:spcBef>
                        <a:spcAft>
                          <a:spcPts val="0"/>
                        </a:spcAft>
                        <a:buNone/>
                      </a:pPr>
                      <a:r>
                        <a:rPr b="1" lang="en-US" sz="2400">
                          <a:solidFill>
                            <a:srgbClr val="0F172A"/>
                          </a:solidFill>
                          <a:latin typeface="Plus Jakarta Sans"/>
                          <a:ea typeface="Plus Jakarta Sans"/>
                          <a:cs typeface="Plus Jakarta Sans"/>
                          <a:sym typeface="Plus Jakarta Sans"/>
                        </a:rPr>
                        <a:t>TCL: Transaction Control Language</a:t>
                      </a:r>
                      <a:endParaRPr/>
                    </a:p>
                  </a:txBody>
                  <a:tcPr marT="91425" marB="91425" marR="91425" marL="91425"/>
                </a:tc>
              </a:tr>
            </a:tbl>
          </a:graphicData>
        </a:graphic>
      </p:graphicFrame>
      <p:sp>
        <p:nvSpPr>
          <p:cNvPr id="376" name="Google Shape;376;p25"/>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80" name="Shape 380"/>
        <p:cNvGrpSpPr/>
        <p:nvPr/>
      </p:nvGrpSpPr>
      <p:grpSpPr>
        <a:xfrm>
          <a:off x="0" y="0"/>
          <a:ext cx="0" cy="0"/>
          <a:chOff x="0" y="0"/>
          <a:chExt cx="0" cy="0"/>
        </a:xfrm>
      </p:grpSpPr>
      <p:sp>
        <p:nvSpPr>
          <p:cNvPr id="381" name="Google Shape;381;p26"/>
          <p:cNvSpPr/>
          <p:nvPr/>
        </p:nvSpPr>
        <p:spPr>
          <a:xfrm>
            <a:off x="609600" y="5176837"/>
            <a:ext cx="5846415" cy="400050"/>
          </a:xfrm>
          <a:prstGeom prst="roundRect">
            <a:avLst>
              <a:gd fmla="val 23809" name="adj"/>
            </a:avLst>
          </a:prstGeom>
          <a:solidFill>
            <a:srgbClr val="EEF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2" name="Google Shape;382;p26"/>
          <p:cNvSpPr/>
          <p:nvPr/>
        </p:nvSpPr>
        <p:spPr>
          <a:xfrm>
            <a:off x="609600" y="2767012"/>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3" name="Google Shape;383;p26"/>
          <p:cNvSpPr/>
          <p:nvPr/>
        </p:nvSpPr>
        <p:spPr>
          <a:xfrm>
            <a:off x="609600" y="3557587"/>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4" name="Google Shape;384;p26"/>
          <p:cNvSpPr/>
          <p:nvPr/>
        </p:nvSpPr>
        <p:spPr>
          <a:xfrm>
            <a:off x="609600" y="4348162"/>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5" name="Google Shape;385;p26"/>
          <p:cNvSpPr/>
          <p:nvPr/>
        </p:nvSpPr>
        <p:spPr>
          <a:xfrm>
            <a:off x="609600" y="5176837"/>
            <a:ext cx="38100" cy="400050"/>
          </a:xfrm>
          <a:prstGeom prst="rect">
            <a:avLst/>
          </a:prstGeom>
          <a:solidFill>
            <a:srgbClr val="4F46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26"/>
          <p:cNvSpPr/>
          <p:nvPr/>
        </p:nvSpPr>
        <p:spPr>
          <a:xfrm>
            <a:off x="609600" y="276701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7" name="Google Shape;387;p26"/>
          <p:cNvSpPr/>
          <p:nvPr/>
        </p:nvSpPr>
        <p:spPr>
          <a:xfrm>
            <a:off x="609600" y="3557587"/>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8" name="Google Shape;388;p26"/>
          <p:cNvSpPr/>
          <p:nvPr/>
        </p:nvSpPr>
        <p:spPr>
          <a:xfrm>
            <a:off x="609600" y="434816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89" name="Google Shape;389;p26"/>
          <p:cNvPicPr preferRelativeResize="0"/>
          <p:nvPr/>
        </p:nvPicPr>
        <p:blipFill rotWithShape="1">
          <a:blip r:embed="rId3">
            <a:alphaModFix/>
          </a:blip>
          <a:srcRect b="0" l="0" r="0" t="0"/>
          <a:stretch/>
        </p:blipFill>
        <p:spPr>
          <a:xfrm>
            <a:off x="790575" y="2933700"/>
            <a:ext cx="342900" cy="342900"/>
          </a:xfrm>
          <a:prstGeom prst="rect">
            <a:avLst/>
          </a:prstGeom>
          <a:noFill/>
          <a:ln>
            <a:noFill/>
          </a:ln>
        </p:spPr>
      </p:pic>
      <p:pic>
        <p:nvPicPr>
          <p:cNvPr descr="image.png" id="390" name="Google Shape;390;p26"/>
          <p:cNvPicPr preferRelativeResize="0"/>
          <p:nvPr/>
        </p:nvPicPr>
        <p:blipFill rotWithShape="1">
          <a:blip r:embed="rId4">
            <a:alphaModFix/>
          </a:blip>
          <a:srcRect b="0" l="0" r="0" t="0"/>
          <a:stretch/>
        </p:blipFill>
        <p:spPr>
          <a:xfrm>
            <a:off x="790575" y="3724275"/>
            <a:ext cx="342900" cy="342900"/>
          </a:xfrm>
          <a:prstGeom prst="rect">
            <a:avLst/>
          </a:prstGeom>
          <a:noFill/>
          <a:ln>
            <a:noFill/>
          </a:ln>
        </p:spPr>
      </p:pic>
      <p:pic>
        <p:nvPicPr>
          <p:cNvPr descr="image.png" id="391" name="Google Shape;391;p26"/>
          <p:cNvPicPr preferRelativeResize="0"/>
          <p:nvPr/>
        </p:nvPicPr>
        <p:blipFill rotWithShape="1">
          <a:blip r:embed="rId5">
            <a:alphaModFix/>
          </a:blip>
          <a:srcRect b="0" l="0" r="0" t="0"/>
          <a:stretch/>
        </p:blipFill>
        <p:spPr>
          <a:xfrm>
            <a:off x="790575" y="4514850"/>
            <a:ext cx="342900" cy="342900"/>
          </a:xfrm>
          <a:prstGeom prst="rect">
            <a:avLst/>
          </a:prstGeom>
          <a:noFill/>
          <a:ln>
            <a:noFill/>
          </a:ln>
        </p:spPr>
      </p:pic>
      <p:pic>
        <p:nvPicPr>
          <p:cNvPr descr="image.png" id="392" name="Google Shape;392;p26"/>
          <p:cNvPicPr preferRelativeResize="0"/>
          <p:nvPr/>
        </p:nvPicPr>
        <p:blipFill rotWithShape="1">
          <a:blip r:embed="rId6">
            <a:alphaModFix/>
          </a:blip>
          <a:srcRect b="0" l="0" r="0" t="0"/>
          <a:stretch/>
        </p:blipFill>
        <p:spPr>
          <a:xfrm>
            <a:off x="800100" y="5319712"/>
            <a:ext cx="104775" cy="133350"/>
          </a:xfrm>
          <a:prstGeom prst="rect">
            <a:avLst/>
          </a:prstGeom>
          <a:noFill/>
          <a:ln>
            <a:noFill/>
          </a:ln>
        </p:spPr>
      </p:pic>
      <p:pic>
        <p:nvPicPr>
          <p:cNvPr descr="image.png" id="393" name="Google Shape;393;p26"/>
          <p:cNvPicPr preferRelativeResize="0"/>
          <p:nvPr/>
        </p:nvPicPr>
        <p:blipFill rotWithShape="1">
          <a:blip r:embed="rId7">
            <a:alphaModFix/>
          </a:blip>
          <a:srcRect b="0" l="0" r="0" t="0"/>
          <a:stretch/>
        </p:blipFill>
        <p:spPr>
          <a:xfrm>
            <a:off x="890587" y="3028950"/>
            <a:ext cx="142875" cy="152400"/>
          </a:xfrm>
          <a:prstGeom prst="rect">
            <a:avLst/>
          </a:prstGeom>
          <a:noFill/>
          <a:ln>
            <a:noFill/>
          </a:ln>
        </p:spPr>
      </p:pic>
      <p:pic>
        <p:nvPicPr>
          <p:cNvPr descr="image.png" id="394" name="Google Shape;394;p26"/>
          <p:cNvPicPr preferRelativeResize="0"/>
          <p:nvPr/>
        </p:nvPicPr>
        <p:blipFill rotWithShape="1">
          <a:blip r:embed="rId8">
            <a:alphaModFix/>
          </a:blip>
          <a:srcRect b="0" l="0" r="0" t="0"/>
          <a:stretch/>
        </p:blipFill>
        <p:spPr>
          <a:xfrm>
            <a:off x="885825" y="3819525"/>
            <a:ext cx="152400" cy="152400"/>
          </a:xfrm>
          <a:prstGeom prst="rect">
            <a:avLst/>
          </a:prstGeom>
          <a:noFill/>
          <a:ln>
            <a:noFill/>
          </a:ln>
        </p:spPr>
      </p:pic>
      <p:pic>
        <p:nvPicPr>
          <p:cNvPr descr="image.png" id="395" name="Google Shape;395;p26"/>
          <p:cNvPicPr preferRelativeResize="0"/>
          <p:nvPr/>
        </p:nvPicPr>
        <p:blipFill rotWithShape="1">
          <a:blip r:embed="rId9">
            <a:alphaModFix/>
          </a:blip>
          <a:srcRect b="0" l="0" r="0" t="0"/>
          <a:stretch/>
        </p:blipFill>
        <p:spPr>
          <a:xfrm>
            <a:off x="895350" y="4610100"/>
            <a:ext cx="133350" cy="152400"/>
          </a:xfrm>
          <a:prstGeom prst="rect">
            <a:avLst/>
          </a:prstGeom>
          <a:noFill/>
          <a:ln>
            <a:noFill/>
          </a:ln>
        </p:spPr>
      </p:pic>
      <p:sp>
        <p:nvSpPr>
          <p:cNvPr id="396" name="Google Shape;396;p26"/>
          <p:cNvSpPr txBox="1"/>
          <p:nvPr/>
        </p:nvSpPr>
        <p:spPr>
          <a:xfrm>
            <a:off x="609600" y="666750"/>
            <a:ext cx="11582400" cy="38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72A"/>
                </a:solidFill>
                <a:latin typeface="Plus Jakarta Sans"/>
                <a:ea typeface="Plus Jakarta Sans"/>
                <a:cs typeface="Plus Jakarta Sans"/>
                <a:sym typeface="Plus Jakarta Sans"/>
              </a:rPr>
              <a:t>DDL: Data Definition Language</a:t>
            </a:r>
            <a:endParaRPr/>
          </a:p>
        </p:txBody>
      </p:sp>
      <p:sp>
        <p:nvSpPr>
          <p:cNvPr id="397" name="Google Shape;397;p26"/>
          <p:cNvSpPr txBox="1"/>
          <p:nvPr/>
        </p:nvSpPr>
        <p:spPr>
          <a:xfrm>
            <a:off x="609600" y="2062162"/>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DDL</a:t>
            </a:r>
            <a:r>
              <a:rPr b="0" i="0" lang="en-US" sz="1350" u="none" cap="none" strike="noStrike">
                <a:solidFill>
                  <a:srgbClr val="334155"/>
                </a:solidFill>
                <a:latin typeface="Plus Jakarta Sans"/>
                <a:ea typeface="Plus Jakarta Sans"/>
                <a:cs typeface="Plus Jakarta Sans"/>
                <a:sym typeface="Plus Jakarta Sans"/>
              </a:rPr>
              <a:t> acts as the </a:t>
            </a:r>
            <a:r>
              <a:rPr b="1" i="0" lang="en-US" sz="1350" u="none" cap="none" strike="noStrike">
                <a:solidFill>
                  <a:srgbClr val="334155"/>
                </a:solidFill>
                <a:latin typeface="Plus Jakarta Sans"/>
                <a:ea typeface="Plus Jakarta Sans"/>
                <a:cs typeface="Plus Jakarta Sans"/>
                <a:sym typeface="Plus Jakarta Sans"/>
              </a:rPr>
              <a:t>Civil Engineer</a:t>
            </a:r>
            <a:r>
              <a:rPr b="0" i="0" lang="en-US" sz="1350" u="none" cap="none" strike="noStrike">
                <a:solidFill>
                  <a:srgbClr val="334155"/>
                </a:solidFill>
                <a:latin typeface="Plus Jakarta Sans"/>
                <a:ea typeface="Plus Jakarta Sans"/>
                <a:cs typeface="Plus Jakarta Sans"/>
                <a:sym typeface="Plus Jakarta Sans"/>
              </a:rPr>
              <a:t> of the database. It defines the structure, skeleton, or blueprint—not the inner data values.</a:t>
            </a:r>
            <a:endParaRPr/>
          </a:p>
        </p:txBody>
      </p:sp>
      <p:sp>
        <p:nvSpPr>
          <p:cNvPr id="398" name="Google Shape;398;p26"/>
          <p:cNvSpPr txBox="1"/>
          <p:nvPr/>
        </p:nvSpPr>
        <p:spPr>
          <a:xfrm>
            <a:off x="800100" y="5291137"/>
            <a:ext cx="6879394" cy="171450"/>
          </a:xfrm>
          <a:prstGeom prst="rect">
            <a:avLst/>
          </a:prstGeom>
          <a:noFill/>
          <a:ln>
            <a:noFill/>
          </a:ln>
        </p:spPr>
        <p:txBody>
          <a:bodyPr anchorCtr="0" anchor="t" bIns="0" lIns="161925" spcFirstLastPara="1" rIns="0" wrap="square" tIns="0">
            <a:spAutoFit/>
          </a:bodyPr>
          <a:lstStyle/>
          <a:p>
            <a:pPr indent="0" lvl="0" marL="0" marR="0" rtl="0" algn="l">
              <a:spcBef>
                <a:spcPts val="0"/>
              </a:spcBef>
              <a:spcAft>
                <a:spcPts val="0"/>
              </a:spcAft>
              <a:buNone/>
            </a:pPr>
            <a:r>
              <a:rPr b="1" i="0" lang="en-US" sz="1050" u="none" cap="none" strike="noStrike">
                <a:solidFill>
                  <a:srgbClr val="3730A3"/>
                </a:solidFill>
                <a:latin typeface="Plus Jakarta Sans"/>
                <a:ea typeface="Plus Jakarta Sans"/>
                <a:cs typeface="Plus Jakarta Sans"/>
                <a:sym typeface="Plus Jakarta Sans"/>
              </a:rPr>
              <a:t>Analogy: Building the rooms of a house before putting furniture inside.</a:t>
            </a:r>
            <a:endParaRPr/>
          </a:p>
        </p:txBody>
      </p:sp>
      <p:sp>
        <p:nvSpPr>
          <p:cNvPr id="399" name="Google Shape;399;p26"/>
          <p:cNvSpPr txBox="1"/>
          <p:nvPr/>
        </p:nvSpPr>
        <p:spPr>
          <a:xfrm>
            <a:off x="1266825" y="2909887"/>
            <a:ext cx="4575571"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CREATE</a:t>
            </a:r>
            <a:endParaRPr/>
          </a:p>
        </p:txBody>
      </p:sp>
      <p:sp>
        <p:nvSpPr>
          <p:cNvPr id="400" name="Google Shape;400;p26"/>
          <p:cNvSpPr txBox="1"/>
          <p:nvPr/>
        </p:nvSpPr>
        <p:spPr>
          <a:xfrm>
            <a:off x="1266825" y="3128962"/>
            <a:ext cx="43576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Constructs a brand-new table or database from scratch.</a:t>
            </a:r>
            <a:endParaRPr/>
          </a:p>
        </p:txBody>
      </p:sp>
      <p:sp>
        <p:nvSpPr>
          <p:cNvPr id="401" name="Google Shape;401;p26"/>
          <p:cNvSpPr txBox="1"/>
          <p:nvPr/>
        </p:nvSpPr>
        <p:spPr>
          <a:xfrm>
            <a:off x="1266825" y="3700462"/>
            <a:ext cx="451306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ALTER</a:t>
            </a:r>
            <a:endParaRPr/>
          </a:p>
        </p:txBody>
      </p:sp>
      <p:sp>
        <p:nvSpPr>
          <p:cNvPr id="402" name="Google Shape;402;p26"/>
          <p:cNvSpPr txBox="1"/>
          <p:nvPr/>
        </p:nvSpPr>
        <p:spPr>
          <a:xfrm>
            <a:off x="1266825" y="3919537"/>
            <a:ext cx="4298156"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Adds, renames, or modifies columns in an existing table.</a:t>
            </a:r>
            <a:endParaRPr/>
          </a:p>
        </p:txBody>
      </p:sp>
      <p:sp>
        <p:nvSpPr>
          <p:cNvPr id="403" name="Google Shape;403;p26"/>
          <p:cNvSpPr txBox="1"/>
          <p:nvPr/>
        </p:nvSpPr>
        <p:spPr>
          <a:xfrm>
            <a:off x="1266825" y="4491037"/>
            <a:ext cx="5500687"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DROP &amp; TRUNCATE</a:t>
            </a:r>
            <a:endParaRPr/>
          </a:p>
        </p:txBody>
      </p:sp>
      <p:sp>
        <p:nvSpPr>
          <p:cNvPr id="404" name="Google Shape;404;p26"/>
          <p:cNvSpPr txBox="1"/>
          <p:nvPr/>
        </p:nvSpPr>
        <p:spPr>
          <a:xfrm>
            <a:off x="1266825" y="4710112"/>
            <a:ext cx="5238750"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Deletes the entire structure completely or empties all rows instantly.</a:t>
            </a:r>
            <a:endParaRPr/>
          </a:p>
        </p:txBody>
      </p:sp>
      <p:pic>
        <p:nvPicPr>
          <p:cNvPr id="405" name="Google Shape;405;p26" title="a.jpg"/>
          <p:cNvPicPr preferRelativeResize="0"/>
          <p:nvPr/>
        </p:nvPicPr>
        <p:blipFill>
          <a:blip r:embed="rId10">
            <a:alphaModFix/>
          </a:blip>
          <a:stretch>
            <a:fillRect/>
          </a:stretch>
        </p:blipFill>
        <p:spPr>
          <a:xfrm>
            <a:off x="7157864" y="802950"/>
            <a:ext cx="4513075" cy="4823451"/>
          </a:xfrm>
          <a:prstGeom prst="rect">
            <a:avLst/>
          </a:prstGeom>
          <a:noFill/>
          <a:ln>
            <a:noFill/>
          </a:ln>
        </p:spPr>
      </p:pic>
      <p:sp>
        <p:nvSpPr>
          <p:cNvPr id="406" name="Google Shape;406;p26"/>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10" name="Shape 410"/>
        <p:cNvGrpSpPr/>
        <p:nvPr/>
      </p:nvGrpSpPr>
      <p:grpSpPr>
        <a:xfrm>
          <a:off x="0" y="0"/>
          <a:ext cx="0" cy="0"/>
          <a:chOff x="0" y="0"/>
          <a:chExt cx="0" cy="0"/>
        </a:xfrm>
      </p:grpSpPr>
      <p:sp>
        <p:nvSpPr>
          <p:cNvPr id="411" name="Google Shape;411;p27"/>
          <p:cNvSpPr/>
          <p:nvPr/>
        </p:nvSpPr>
        <p:spPr>
          <a:xfrm>
            <a:off x="5735984" y="5176837"/>
            <a:ext cx="5846415" cy="400050"/>
          </a:xfrm>
          <a:prstGeom prst="roundRect">
            <a:avLst>
              <a:gd fmla="val 23809" name="adj"/>
            </a:avLst>
          </a:prstGeom>
          <a:solidFill>
            <a:srgbClr val="ECFD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p27"/>
          <p:cNvSpPr/>
          <p:nvPr/>
        </p:nvSpPr>
        <p:spPr>
          <a:xfrm>
            <a:off x="5735984" y="2767012"/>
            <a:ext cx="5846415" cy="676275"/>
          </a:xfrm>
          <a:prstGeom prst="roundRect">
            <a:avLst>
              <a:gd fmla="val 30985"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7"/>
          <p:cNvSpPr/>
          <p:nvPr/>
        </p:nvSpPr>
        <p:spPr>
          <a:xfrm>
            <a:off x="5735984" y="3557587"/>
            <a:ext cx="5846415" cy="676275"/>
          </a:xfrm>
          <a:prstGeom prst="roundRect">
            <a:avLst>
              <a:gd fmla="val 30985"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4" name="Google Shape;414;p27"/>
          <p:cNvSpPr/>
          <p:nvPr/>
        </p:nvSpPr>
        <p:spPr>
          <a:xfrm>
            <a:off x="5735984" y="4348162"/>
            <a:ext cx="5846415" cy="676275"/>
          </a:xfrm>
          <a:prstGeom prst="roundRect">
            <a:avLst>
              <a:gd fmla="val 30985"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27"/>
          <p:cNvSpPr/>
          <p:nvPr/>
        </p:nvSpPr>
        <p:spPr>
          <a:xfrm>
            <a:off x="5735984" y="5176837"/>
            <a:ext cx="38100" cy="400050"/>
          </a:xfrm>
          <a:prstGeom prst="rect">
            <a:avLst/>
          </a:prstGeom>
          <a:solidFill>
            <a:srgbClr val="10B98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27"/>
          <p:cNvSpPr/>
          <p:nvPr/>
        </p:nvSpPr>
        <p:spPr>
          <a:xfrm>
            <a:off x="5735984" y="276701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27"/>
          <p:cNvSpPr/>
          <p:nvPr/>
        </p:nvSpPr>
        <p:spPr>
          <a:xfrm>
            <a:off x="5735984" y="3557587"/>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8" name="Google Shape;418;p27"/>
          <p:cNvSpPr/>
          <p:nvPr/>
        </p:nvSpPr>
        <p:spPr>
          <a:xfrm>
            <a:off x="5735984" y="4348162"/>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19" name="Google Shape;419;p27"/>
          <p:cNvPicPr preferRelativeResize="0"/>
          <p:nvPr/>
        </p:nvPicPr>
        <p:blipFill rotWithShape="1">
          <a:blip r:embed="rId3">
            <a:alphaModFix/>
          </a:blip>
          <a:srcRect b="0" l="0" r="0" t="0"/>
          <a:stretch/>
        </p:blipFill>
        <p:spPr>
          <a:xfrm>
            <a:off x="609600" y="1819275"/>
            <a:ext cx="4783484" cy="4000500"/>
          </a:xfrm>
          <a:prstGeom prst="rect">
            <a:avLst/>
          </a:prstGeom>
          <a:noFill/>
          <a:ln>
            <a:noFill/>
          </a:ln>
        </p:spPr>
      </p:pic>
      <p:pic>
        <p:nvPicPr>
          <p:cNvPr descr="image.png" id="420" name="Google Shape;420;p27"/>
          <p:cNvPicPr preferRelativeResize="0"/>
          <p:nvPr/>
        </p:nvPicPr>
        <p:blipFill rotWithShape="1">
          <a:blip r:embed="rId4">
            <a:alphaModFix/>
          </a:blip>
          <a:srcRect b="0" l="0" r="0" t="2306"/>
          <a:stretch/>
        </p:blipFill>
        <p:spPr>
          <a:xfrm>
            <a:off x="609600" y="1819275"/>
            <a:ext cx="4783475" cy="4000500"/>
          </a:xfrm>
          <a:prstGeom prst="rect">
            <a:avLst/>
          </a:prstGeom>
          <a:noFill/>
          <a:ln>
            <a:noFill/>
          </a:ln>
        </p:spPr>
      </p:pic>
      <p:pic>
        <p:nvPicPr>
          <p:cNvPr descr="image.png" id="421" name="Google Shape;421;p27"/>
          <p:cNvPicPr preferRelativeResize="0"/>
          <p:nvPr/>
        </p:nvPicPr>
        <p:blipFill rotWithShape="1">
          <a:blip r:embed="rId5">
            <a:alphaModFix/>
          </a:blip>
          <a:srcRect b="0" l="0" r="0" t="0"/>
          <a:stretch/>
        </p:blipFill>
        <p:spPr>
          <a:xfrm>
            <a:off x="5916959" y="2933700"/>
            <a:ext cx="342900" cy="342900"/>
          </a:xfrm>
          <a:prstGeom prst="rect">
            <a:avLst/>
          </a:prstGeom>
          <a:noFill/>
          <a:ln>
            <a:noFill/>
          </a:ln>
        </p:spPr>
      </p:pic>
      <p:pic>
        <p:nvPicPr>
          <p:cNvPr descr="image.png" id="422" name="Google Shape;422;p27"/>
          <p:cNvPicPr preferRelativeResize="0"/>
          <p:nvPr/>
        </p:nvPicPr>
        <p:blipFill rotWithShape="1">
          <a:blip r:embed="rId6">
            <a:alphaModFix/>
          </a:blip>
          <a:srcRect b="0" l="0" r="0" t="0"/>
          <a:stretch/>
        </p:blipFill>
        <p:spPr>
          <a:xfrm>
            <a:off x="5916959" y="3724275"/>
            <a:ext cx="342900" cy="342900"/>
          </a:xfrm>
          <a:prstGeom prst="rect">
            <a:avLst/>
          </a:prstGeom>
          <a:noFill/>
          <a:ln>
            <a:noFill/>
          </a:ln>
        </p:spPr>
      </p:pic>
      <p:pic>
        <p:nvPicPr>
          <p:cNvPr descr="image.png" id="423" name="Google Shape;423;p27"/>
          <p:cNvPicPr preferRelativeResize="0"/>
          <p:nvPr/>
        </p:nvPicPr>
        <p:blipFill rotWithShape="1">
          <a:blip r:embed="rId7">
            <a:alphaModFix/>
          </a:blip>
          <a:srcRect b="0" l="0" r="0" t="0"/>
          <a:stretch/>
        </p:blipFill>
        <p:spPr>
          <a:xfrm>
            <a:off x="5916959" y="4514850"/>
            <a:ext cx="342900" cy="342900"/>
          </a:xfrm>
          <a:prstGeom prst="rect">
            <a:avLst/>
          </a:prstGeom>
          <a:noFill/>
          <a:ln>
            <a:noFill/>
          </a:ln>
        </p:spPr>
      </p:pic>
      <p:pic>
        <p:nvPicPr>
          <p:cNvPr descr="image.png" id="424" name="Google Shape;424;p27"/>
          <p:cNvPicPr preferRelativeResize="0"/>
          <p:nvPr/>
        </p:nvPicPr>
        <p:blipFill rotWithShape="1">
          <a:blip r:embed="rId8">
            <a:alphaModFix/>
          </a:blip>
          <a:srcRect b="0" l="0" r="0" t="0"/>
          <a:stretch/>
        </p:blipFill>
        <p:spPr>
          <a:xfrm>
            <a:off x="5926484" y="5319712"/>
            <a:ext cx="104775" cy="133350"/>
          </a:xfrm>
          <a:prstGeom prst="rect">
            <a:avLst/>
          </a:prstGeom>
          <a:noFill/>
          <a:ln>
            <a:noFill/>
          </a:ln>
        </p:spPr>
      </p:pic>
      <p:pic>
        <p:nvPicPr>
          <p:cNvPr descr="image.png" id="425" name="Google Shape;425;p27"/>
          <p:cNvPicPr preferRelativeResize="0"/>
          <p:nvPr/>
        </p:nvPicPr>
        <p:blipFill rotWithShape="1">
          <a:blip r:embed="rId9">
            <a:alphaModFix/>
          </a:blip>
          <a:srcRect b="0" l="0" r="0" t="0"/>
          <a:stretch/>
        </p:blipFill>
        <p:spPr>
          <a:xfrm>
            <a:off x="6002684" y="3028950"/>
            <a:ext cx="171450" cy="152400"/>
          </a:xfrm>
          <a:prstGeom prst="rect">
            <a:avLst/>
          </a:prstGeom>
          <a:noFill/>
          <a:ln>
            <a:noFill/>
          </a:ln>
        </p:spPr>
      </p:pic>
      <p:pic>
        <p:nvPicPr>
          <p:cNvPr descr="image.png" id="426" name="Google Shape;426;p27"/>
          <p:cNvPicPr preferRelativeResize="0"/>
          <p:nvPr/>
        </p:nvPicPr>
        <p:blipFill rotWithShape="1">
          <a:blip r:embed="rId10">
            <a:alphaModFix/>
          </a:blip>
          <a:srcRect b="0" l="0" r="0" t="0"/>
          <a:stretch/>
        </p:blipFill>
        <p:spPr>
          <a:xfrm>
            <a:off x="6012209" y="3819525"/>
            <a:ext cx="152400" cy="152400"/>
          </a:xfrm>
          <a:prstGeom prst="rect">
            <a:avLst/>
          </a:prstGeom>
          <a:noFill/>
          <a:ln>
            <a:noFill/>
          </a:ln>
        </p:spPr>
      </p:pic>
      <p:pic>
        <p:nvPicPr>
          <p:cNvPr descr="image.png" id="427" name="Google Shape;427;p27"/>
          <p:cNvPicPr preferRelativeResize="0"/>
          <p:nvPr/>
        </p:nvPicPr>
        <p:blipFill rotWithShape="1">
          <a:blip r:embed="rId11">
            <a:alphaModFix/>
          </a:blip>
          <a:srcRect b="0" l="0" r="0" t="0"/>
          <a:stretch/>
        </p:blipFill>
        <p:spPr>
          <a:xfrm>
            <a:off x="5993159" y="4610100"/>
            <a:ext cx="190500" cy="152400"/>
          </a:xfrm>
          <a:prstGeom prst="rect">
            <a:avLst/>
          </a:prstGeom>
          <a:noFill/>
          <a:ln>
            <a:noFill/>
          </a:ln>
        </p:spPr>
      </p:pic>
      <p:sp>
        <p:nvSpPr>
          <p:cNvPr id="428" name="Google Shape;428;p27"/>
          <p:cNvSpPr txBox="1"/>
          <p:nvPr/>
        </p:nvSpPr>
        <p:spPr>
          <a:xfrm>
            <a:off x="609600" y="457200"/>
            <a:ext cx="11582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429" name="Google Shape;429;p27"/>
          <p:cNvSpPr txBox="1"/>
          <p:nvPr/>
        </p:nvSpPr>
        <p:spPr>
          <a:xfrm>
            <a:off x="609600" y="909475"/>
            <a:ext cx="11582400" cy="400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600" u="none" cap="none" strike="noStrike">
                <a:solidFill>
                  <a:srgbClr val="0F172A"/>
                </a:solidFill>
                <a:latin typeface="Plus Jakarta Sans"/>
                <a:ea typeface="Plus Jakarta Sans"/>
                <a:cs typeface="Plus Jakarta Sans"/>
                <a:sym typeface="Plus Jakarta Sans"/>
              </a:rPr>
              <a:t>DML: Data Manipulation Language</a:t>
            </a:r>
            <a:endParaRPr sz="1600"/>
          </a:p>
        </p:txBody>
      </p:sp>
      <p:sp>
        <p:nvSpPr>
          <p:cNvPr id="430" name="Google Shape;430;p27"/>
          <p:cNvSpPr txBox="1"/>
          <p:nvPr/>
        </p:nvSpPr>
        <p:spPr>
          <a:xfrm>
            <a:off x="5735984" y="2062162"/>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DML</a:t>
            </a:r>
            <a:r>
              <a:rPr b="0" i="0" lang="en-US" sz="1350" u="none" cap="none" strike="noStrike">
                <a:solidFill>
                  <a:srgbClr val="334155"/>
                </a:solidFill>
                <a:latin typeface="Plus Jakarta Sans"/>
                <a:ea typeface="Plus Jakarta Sans"/>
                <a:cs typeface="Plus Jakarta Sans"/>
                <a:sym typeface="Plus Jakarta Sans"/>
              </a:rPr>
              <a:t> manages the actual content inside existing tables. It allows inserting, updating, and removing individual student or customer records.</a:t>
            </a:r>
            <a:endParaRPr/>
          </a:p>
        </p:txBody>
      </p:sp>
      <p:sp>
        <p:nvSpPr>
          <p:cNvPr id="431" name="Google Shape;431;p27"/>
          <p:cNvSpPr txBox="1"/>
          <p:nvPr/>
        </p:nvSpPr>
        <p:spPr>
          <a:xfrm>
            <a:off x="5926484" y="5291137"/>
            <a:ext cx="6265515" cy="171450"/>
          </a:xfrm>
          <a:prstGeom prst="rect">
            <a:avLst/>
          </a:prstGeom>
          <a:noFill/>
          <a:ln>
            <a:noFill/>
          </a:ln>
        </p:spPr>
        <p:txBody>
          <a:bodyPr anchorCtr="0" anchor="t" bIns="0" lIns="161925" spcFirstLastPara="1" rIns="0" wrap="square" tIns="0">
            <a:spAutoFit/>
          </a:bodyPr>
          <a:lstStyle/>
          <a:p>
            <a:pPr indent="0" lvl="0" marL="0" marR="0" rtl="0" algn="l">
              <a:spcBef>
                <a:spcPts val="0"/>
              </a:spcBef>
              <a:spcAft>
                <a:spcPts val="0"/>
              </a:spcAft>
              <a:buNone/>
            </a:pPr>
            <a:r>
              <a:rPr b="1" i="0" lang="en-US" sz="1050" u="none" cap="none" strike="noStrike">
                <a:solidFill>
                  <a:srgbClr val="065F46"/>
                </a:solidFill>
                <a:latin typeface="Plus Jakarta Sans"/>
                <a:ea typeface="Plus Jakarta Sans"/>
                <a:cs typeface="Plus Jakarta Sans"/>
                <a:sym typeface="Plus Jakarta Sans"/>
              </a:rPr>
              <a:t>Analogy: Arranging, replacing, or discarding items stored inside wardrobe shelves.</a:t>
            </a:r>
            <a:endParaRPr/>
          </a:p>
        </p:txBody>
      </p:sp>
      <p:sp>
        <p:nvSpPr>
          <p:cNvPr id="432" name="Google Shape;432;p27"/>
          <p:cNvSpPr txBox="1"/>
          <p:nvPr/>
        </p:nvSpPr>
        <p:spPr>
          <a:xfrm>
            <a:off x="6393209" y="2909887"/>
            <a:ext cx="4150518"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INSERT</a:t>
            </a:r>
            <a:endParaRPr/>
          </a:p>
        </p:txBody>
      </p:sp>
      <p:sp>
        <p:nvSpPr>
          <p:cNvPr id="433" name="Google Shape;433;p27"/>
          <p:cNvSpPr txBox="1"/>
          <p:nvPr/>
        </p:nvSpPr>
        <p:spPr>
          <a:xfrm>
            <a:off x="6393209" y="3128962"/>
            <a:ext cx="3952875"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Adds new rows of information into an existing table.</a:t>
            </a:r>
            <a:endParaRPr/>
          </a:p>
        </p:txBody>
      </p:sp>
      <p:sp>
        <p:nvSpPr>
          <p:cNvPr id="434" name="Google Shape;434;p27"/>
          <p:cNvSpPr txBox="1"/>
          <p:nvPr/>
        </p:nvSpPr>
        <p:spPr>
          <a:xfrm>
            <a:off x="6393209" y="3700462"/>
            <a:ext cx="523815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UPDATE</a:t>
            </a:r>
            <a:endParaRPr/>
          </a:p>
        </p:txBody>
      </p:sp>
      <p:sp>
        <p:nvSpPr>
          <p:cNvPr id="435" name="Google Shape;435;p27"/>
          <p:cNvSpPr txBox="1"/>
          <p:nvPr/>
        </p:nvSpPr>
        <p:spPr>
          <a:xfrm>
            <a:off x="6393209" y="3919537"/>
            <a:ext cx="498871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Modifies current data (e.g., updating a student's mobile number).</a:t>
            </a:r>
            <a:endParaRPr/>
          </a:p>
        </p:txBody>
      </p:sp>
      <p:sp>
        <p:nvSpPr>
          <p:cNvPr id="436" name="Google Shape;436;p27"/>
          <p:cNvSpPr txBox="1"/>
          <p:nvPr/>
        </p:nvSpPr>
        <p:spPr>
          <a:xfrm>
            <a:off x="6393209" y="4491037"/>
            <a:ext cx="5375671"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DELETE</a:t>
            </a:r>
            <a:endParaRPr/>
          </a:p>
        </p:txBody>
      </p:sp>
      <p:sp>
        <p:nvSpPr>
          <p:cNvPr id="437" name="Google Shape;437;p27"/>
          <p:cNvSpPr txBox="1"/>
          <p:nvPr/>
        </p:nvSpPr>
        <p:spPr>
          <a:xfrm>
            <a:off x="6393209" y="4710112"/>
            <a:ext cx="51196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Removes specific rows using targeted conditions (WHERE clause).</a:t>
            </a:r>
            <a:endParaRPr/>
          </a:p>
        </p:txBody>
      </p:sp>
      <p:sp>
        <p:nvSpPr>
          <p:cNvPr id="438" name="Google Shape;438;p27"/>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42" name="Shape 442"/>
        <p:cNvGrpSpPr/>
        <p:nvPr/>
      </p:nvGrpSpPr>
      <p:grpSpPr>
        <a:xfrm>
          <a:off x="0" y="0"/>
          <a:ext cx="0" cy="0"/>
          <a:chOff x="0" y="0"/>
          <a:chExt cx="0" cy="0"/>
        </a:xfrm>
      </p:grpSpPr>
      <p:sp>
        <p:nvSpPr>
          <p:cNvPr id="443" name="Google Shape;443;p28"/>
          <p:cNvSpPr/>
          <p:nvPr/>
        </p:nvSpPr>
        <p:spPr>
          <a:xfrm>
            <a:off x="609600" y="5010150"/>
            <a:ext cx="5846415" cy="571500"/>
          </a:xfrm>
          <a:prstGeom prst="roundRect">
            <a:avLst>
              <a:gd fmla="val 16666" name="adj"/>
            </a:avLst>
          </a:prstGeom>
          <a:solidFill>
            <a:srgbClr val="FFF1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4" name="Google Shape;444;p28"/>
          <p:cNvSpPr/>
          <p:nvPr/>
        </p:nvSpPr>
        <p:spPr>
          <a:xfrm>
            <a:off x="609600" y="2762250"/>
            <a:ext cx="5846415" cy="962025"/>
          </a:xfrm>
          <a:prstGeom prst="roundRect">
            <a:avLst>
              <a:gd fmla="val 2178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5" name="Google Shape;445;p28"/>
          <p:cNvSpPr/>
          <p:nvPr/>
        </p:nvSpPr>
        <p:spPr>
          <a:xfrm>
            <a:off x="609600" y="3857625"/>
            <a:ext cx="5846415" cy="962025"/>
          </a:xfrm>
          <a:prstGeom prst="roundRect">
            <a:avLst>
              <a:gd fmla="val 21782"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6" name="Google Shape;446;p28"/>
          <p:cNvSpPr/>
          <p:nvPr/>
        </p:nvSpPr>
        <p:spPr>
          <a:xfrm>
            <a:off x="609600" y="5010150"/>
            <a:ext cx="38100" cy="571500"/>
          </a:xfrm>
          <a:prstGeom prst="rect">
            <a:avLst/>
          </a:prstGeom>
          <a:solidFill>
            <a:srgbClr val="F43F5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7" name="Google Shape;447;p28"/>
          <p:cNvSpPr/>
          <p:nvPr/>
        </p:nvSpPr>
        <p:spPr>
          <a:xfrm>
            <a:off x="609600" y="2762250"/>
            <a:ext cx="5827366" cy="942975"/>
          </a:xfrm>
          <a:prstGeom prst="roundRect">
            <a:avLst>
              <a:gd fmla="val 22222"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48" name="Google Shape;448;p28"/>
          <p:cNvSpPr/>
          <p:nvPr/>
        </p:nvSpPr>
        <p:spPr>
          <a:xfrm>
            <a:off x="609600" y="3857625"/>
            <a:ext cx="5827366" cy="942975"/>
          </a:xfrm>
          <a:prstGeom prst="roundRect">
            <a:avLst>
              <a:gd fmla="val 22222"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49" name="Google Shape;449;p28"/>
          <p:cNvPicPr preferRelativeResize="0"/>
          <p:nvPr/>
        </p:nvPicPr>
        <p:blipFill rotWithShape="1">
          <a:blip r:embed="rId3">
            <a:alphaModFix/>
          </a:blip>
          <a:srcRect b="0" l="0" r="0" t="0"/>
          <a:stretch/>
        </p:blipFill>
        <p:spPr>
          <a:xfrm>
            <a:off x="6798915" y="1819275"/>
            <a:ext cx="4783484" cy="4000500"/>
          </a:xfrm>
          <a:prstGeom prst="rect">
            <a:avLst/>
          </a:prstGeom>
          <a:noFill/>
          <a:ln>
            <a:noFill/>
          </a:ln>
        </p:spPr>
      </p:pic>
      <p:pic>
        <p:nvPicPr>
          <p:cNvPr descr="image.png" id="450" name="Google Shape;450;p28"/>
          <p:cNvPicPr preferRelativeResize="0"/>
          <p:nvPr/>
        </p:nvPicPr>
        <p:blipFill rotWithShape="1">
          <a:blip r:embed="rId4">
            <a:alphaModFix/>
          </a:blip>
          <a:srcRect b="0" l="37213" r="1134" t="0"/>
          <a:stretch/>
        </p:blipFill>
        <p:spPr>
          <a:xfrm>
            <a:off x="6798915" y="1819275"/>
            <a:ext cx="4783484" cy="4000500"/>
          </a:xfrm>
          <a:prstGeom prst="rect">
            <a:avLst/>
          </a:prstGeom>
          <a:noFill/>
          <a:ln>
            <a:noFill/>
          </a:ln>
        </p:spPr>
      </p:pic>
      <p:pic>
        <p:nvPicPr>
          <p:cNvPr descr="image.png" id="451" name="Google Shape;451;p28"/>
          <p:cNvPicPr preferRelativeResize="0"/>
          <p:nvPr/>
        </p:nvPicPr>
        <p:blipFill rotWithShape="1">
          <a:blip r:embed="rId5">
            <a:alphaModFix/>
          </a:blip>
          <a:srcRect b="0" l="0" r="0" t="0"/>
          <a:stretch/>
        </p:blipFill>
        <p:spPr>
          <a:xfrm>
            <a:off x="828675" y="3043237"/>
            <a:ext cx="400050" cy="400050"/>
          </a:xfrm>
          <a:prstGeom prst="rect">
            <a:avLst/>
          </a:prstGeom>
          <a:noFill/>
          <a:ln>
            <a:noFill/>
          </a:ln>
        </p:spPr>
      </p:pic>
      <p:pic>
        <p:nvPicPr>
          <p:cNvPr descr="image.png" id="452" name="Google Shape;452;p28"/>
          <p:cNvPicPr preferRelativeResize="0"/>
          <p:nvPr/>
        </p:nvPicPr>
        <p:blipFill rotWithShape="1">
          <a:blip r:embed="rId6">
            <a:alphaModFix/>
          </a:blip>
          <a:srcRect b="0" l="0" r="0" t="0"/>
          <a:stretch/>
        </p:blipFill>
        <p:spPr>
          <a:xfrm>
            <a:off x="828675" y="4138612"/>
            <a:ext cx="400050" cy="400050"/>
          </a:xfrm>
          <a:prstGeom prst="rect">
            <a:avLst/>
          </a:prstGeom>
          <a:noFill/>
          <a:ln>
            <a:noFill/>
          </a:ln>
        </p:spPr>
      </p:pic>
      <p:pic>
        <p:nvPicPr>
          <p:cNvPr descr="image.png" id="453" name="Google Shape;453;p28"/>
          <p:cNvPicPr preferRelativeResize="0"/>
          <p:nvPr/>
        </p:nvPicPr>
        <p:blipFill rotWithShape="1">
          <a:blip r:embed="rId7">
            <a:alphaModFix/>
          </a:blip>
          <a:srcRect b="0" l="0" r="0" t="0"/>
          <a:stretch/>
        </p:blipFill>
        <p:spPr>
          <a:xfrm>
            <a:off x="800100" y="5153025"/>
            <a:ext cx="133350" cy="133350"/>
          </a:xfrm>
          <a:prstGeom prst="rect">
            <a:avLst/>
          </a:prstGeom>
          <a:noFill/>
          <a:ln>
            <a:noFill/>
          </a:ln>
        </p:spPr>
      </p:pic>
      <p:pic>
        <p:nvPicPr>
          <p:cNvPr descr="image.png" id="454" name="Google Shape;454;p28"/>
          <p:cNvPicPr preferRelativeResize="0"/>
          <p:nvPr/>
        </p:nvPicPr>
        <p:blipFill rotWithShape="1">
          <a:blip r:embed="rId8">
            <a:alphaModFix/>
          </a:blip>
          <a:srcRect b="0" l="0" r="0" t="0"/>
          <a:stretch/>
        </p:blipFill>
        <p:spPr>
          <a:xfrm>
            <a:off x="942975" y="3157537"/>
            <a:ext cx="171450" cy="171450"/>
          </a:xfrm>
          <a:prstGeom prst="rect">
            <a:avLst/>
          </a:prstGeom>
          <a:noFill/>
          <a:ln>
            <a:noFill/>
          </a:ln>
        </p:spPr>
      </p:pic>
      <p:pic>
        <p:nvPicPr>
          <p:cNvPr descr="image.png" id="455" name="Google Shape;455;p28"/>
          <p:cNvPicPr preferRelativeResize="0"/>
          <p:nvPr/>
        </p:nvPicPr>
        <p:blipFill rotWithShape="1">
          <a:blip r:embed="rId9">
            <a:alphaModFix/>
          </a:blip>
          <a:srcRect b="0" l="0" r="0" t="0"/>
          <a:stretch/>
        </p:blipFill>
        <p:spPr>
          <a:xfrm>
            <a:off x="952500" y="4252912"/>
            <a:ext cx="152400" cy="171450"/>
          </a:xfrm>
          <a:prstGeom prst="rect">
            <a:avLst/>
          </a:prstGeom>
          <a:noFill/>
          <a:ln>
            <a:noFill/>
          </a:ln>
        </p:spPr>
      </p:pic>
      <p:sp>
        <p:nvSpPr>
          <p:cNvPr id="456" name="Google Shape;456;p28"/>
          <p:cNvSpPr txBox="1"/>
          <p:nvPr/>
        </p:nvSpPr>
        <p:spPr>
          <a:xfrm>
            <a:off x="647700" y="1010925"/>
            <a:ext cx="5409600" cy="44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900" u="none" cap="none" strike="noStrike">
                <a:solidFill>
                  <a:srgbClr val="0F172A"/>
                </a:solidFill>
                <a:latin typeface="Plus Jakarta Sans"/>
                <a:ea typeface="Plus Jakarta Sans"/>
                <a:cs typeface="Plus Jakarta Sans"/>
                <a:sym typeface="Plus Jakarta Sans"/>
              </a:rPr>
              <a:t>DCL: Data Control Language</a:t>
            </a:r>
            <a:endParaRPr sz="1900"/>
          </a:p>
        </p:txBody>
      </p:sp>
      <p:sp>
        <p:nvSpPr>
          <p:cNvPr id="457" name="Google Shape;457;p28"/>
          <p:cNvSpPr txBox="1"/>
          <p:nvPr/>
        </p:nvSpPr>
        <p:spPr>
          <a:xfrm>
            <a:off x="609600" y="2057400"/>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DCL</a:t>
            </a:r>
            <a:r>
              <a:rPr b="0" i="0" lang="en-US" sz="1350" u="none" cap="none" strike="noStrike">
                <a:solidFill>
                  <a:srgbClr val="334155"/>
                </a:solidFill>
                <a:latin typeface="Plus Jakarta Sans"/>
                <a:ea typeface="Plus Jakarta Sans"/>
                <a:cs typeface="Plus Jakarta Sans"/>
                <a:sym typeface="Plus Jakarta Sans"/>
              </a:rPr>
              <a:t> is the </a:t>
            </a:r>
            <a:r>
              <a:rPr b="1" i="0" lang="en-US" sz="1350" u="none" cap="none" strike="noStrike">
                <a:solidFill>
                  <a:srgbClr val="334155"/>
                </a:solidFill>
                <a:latin typeface="Plus Jakarta Sans"/>
                <a:ea typeface="Plus Jakarta Sans"/>
                <a:cs typeface="Plus Jakarta Sans"/>
                <a:sym typeface="Plus Jakarta Sans"/>
              </a:rPr>
              <a:t>Security Guard</a:t>
            </a:r>
            <a:r>
              <a:rPr b="0" i="0" lang="en-US" sz="1350" u="none" cap="none" strike="noStrike">
                <a:solidFill>
                  <a:srgbClr val="334155"/>
                </a:solidFill>
                <a:latin typeface="Plus Jakarta Sans"/>
                <a:ea typeface="Plus Jakarta Sans"/>
                <a:cs typeface="Plus Jakarta Sans"/>
                <a:sym typeface="Plus Jakarta Sans"/>
              </a:rPr>
              <a:t> of the database. It controls who is granted permission to view or edit sensitive database records.</a:t>
            </a:r>
            <a:endParaRPr/>
          </a:p>
        </p:txBody>
      </p:sp>
      <p:sp>
        <p:nvSpPr>
          <p:cNvPr id="458" name="Google Shape;458;p28"/>
          <p:cNvSpPr txBox="1"/>
          <p:nvPr/>
        </p:nvSpPr>
        <p:spPr>
          <a:xfrm>
            <a:off x="800100" y="5124450"/>
            <a:ext cx="5598765" cy="342900"/>
          </a:xfrm>
          <a:prstGeom prst="rect">
            <a:avLst/>
          </a:prstGeom>
          <a:noFill/>
          <a:ln>
            <a:noFill/>
          </a:ln>
        </p:spPr>
        <p:txBody>
          <a:bodyPr anchorCtr="0" anchor="t" bIns="0" lIns="190500" spcFirstLastPara="1" rIns="0" wrap="square" tIns="0">
            <a:spAutoFit/>
          </a:bodyPr>
          <a:lstStyle/>
          <a:p>
            <a:pPr indent="0" lvl="0" marL="0" marR="0" rtl="0" algn="l">
              <a:spcBef>
                <a:spcPts val="0"/>
              </a:spcBef>
              <a:spcAft>
                <a:spcPts val="0"/>
              </a:spcAft>
              <a:buNone/>
            </a:pPr>
            <a:r>
              <a:rPr b="1" i="0" lang="en-US" sz="1050" u="none" cap="none" strike="noStrike">
                <a:solidFill>
                  <a:srgbClr val="9F1239"/>
                </a:solidFill>
                <a:latin typeface="Plus Jakarta Sans"/>
                <a:ea typeface="Plus Jakarta Sans"/>
                <a:cs typeface="Plus Jakarta Sans"/>
                <a:sym typeface="Plus Jakarta Sans"/>
              </a:rPr>
              <a:t>Analogy: Handing a digital keycard to enter a private room, then deactivating it when access expires.</a:t>
            </a:r>
            <a:endParaRPr/>
          </a:p>
        </p:txBody>
      </p:sp>
      <p:sp>
        <p:nvSpPr>
          <p:cNvPr id="459" name="Google Shape;459;p28"/>
          <p:cNvSpPr txBox="1"/>
          <p:nvPr/>
        </p:nvSpPr>
        <p:spPr>
          <a:xfrm>
            <a:off x="1433513" y="3200288"/>
            <a:ext cx="35244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059669"/>
                </a:solidFill>
                <a:latin typeface="Plus Jakarta Sans"/>
                <a:ea typeface="Plus Jakarta Sans"/>
                <a:cs typeface="Plus Jakarta Sans"/>
                <a:sym typeface="Plus Jakarta Sans"/>
              </a:rPr>
              <a:t>Ex: Giving MCA faculty write access to upload marks.</a:t>
            </a:r>
            <a:endParaRPr/>
          </a:p>
        </p:txBody>
      </p:sp>
      <p:sp>
        <p:nvSpPr>
          <p:cNvPr id="460" name="Google Shape;460;p28"/>
          <p:cNvSpPr txBox="1"/>
          <p:nvPr/>
        </p:nvSpPr>
        <p:spPr>
          <a:xfrm>
            <a:off x="1433525" y="4282688"/>
            <a:ext cx="3629100" cy="150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75" u="none" cap="none" strike="noStrike">
                <a:solidFill>
                  <a:srgbClr val="DC2626"/>
                </a:solidFill>
                <a:latin typeface="Plus Jakarta Sans"/>
                <a:ea typeface="Plus Jakarta Sans"/>
                <a:cs typeface="Plus Jakarta Sans"/>
                <a:sym typeface="Plus Jakarta Sans"/>
              </a:rPr>
              <a:t>Ex: Revoking access after an employee or student departs.</a:t>
            </a:r>
            <a:endParaRPr/>
          </a:p>
        </p:txBody>
      </p:sp>
      <p:sp>
        <p:nvSpPr>
          <p:cNvPr id="461" name="Google Shape;461;p28"/>
          <p:cNvSpPr txBox="1"/>
          <p:nvPr/>
        </p:nvSpPr>
        <p:spPr>
          <a:xfrm>
            <a:off x="1488275" y="2897511"/>
            <a:ext cx="622500" cy="19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GRANT</a:t>
            </a:r>
            <a:endParaRPr/>
          </a:p>
        </p:txBody>
      </p:sp>
      <p:sp>
        <p:nvSpPr>
          <p:cNvPr id="462" name="Google Shape;462;p28"/>
          <p:cNvSpPr txBox="1"/>
          <p:nvPr/>
        </p:nvSpPr>
        <p:spPr>
          <a:xfrm>
            <a:off x="1488275" y="3419475"/>
            <a:ext cx="42864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Provides read or write permissions to designated users.</a:t>
            </a:r>
            <a:endParaRPr/>
          </a:p>
        </p:txBody>
      </p:sp>
      <p:sp>
        <p:nvSpPr>
          <p:cNvPr id="463" name="Google Shape;463;p28"/>
          <p:cNvSpPr txBox="1"/>
          <p:nvPr/>
        </p:nvSpPr>
        <p:spPr>
          <a:xfrm>
            <a:off x="1488264" y="4000150"/>
            <a:ext cx="707100" cy="19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F172A"/>
                </a:solidFill>
                <a:latin typeface="Plus Jakarta Sans"/>
                <a:ea typeface="Plus Jakarta Sans"/>
                <a:cs typeface="Plus Jakarta Sans"/>
                <a:sym typeface="Plus Jakarta Sans"/>
              </a:rPr>
              <a:t>REVOKE</a:t>
            </a:r>
            <a:endParaRPr/>
          </a:p>
        </p:txBody>
      </p:sp>
      <p:sp>
        <p:nvSpPr>
          <p:cNvPr id="464" name="Google Shape;464;p28"/>
          <p:cNvSpPr txBox="1"/>
          <p:nvPr/>
        </p:nvSpPr>
        <p:spPr>
          <a:xfrm>
            <a:off x="1488275" y="4491263"/>
            <a:ext cx="4417200" cy="1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Takes back previously granted user permissions.</a:t>
            </a:r>
            <a:endParaRPr/>
          </a:p>
        </p:txBody>
      </p:sp>
      <p:sp>
        <p:nvSpPr>
          <p:cNvPr id="465" name="Google Shape;465;p28"/>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9" name="Shape 469"/>
        <p:cNvGrpSpPr/>
        <p:nvPr/>
      </p:nvGrpSpPr>
      <p:grpSpPr>
        <a:xfrm>
          <a:off x="0" y="0"/>
          <a:ext cx="0" cy="0"/>
          <a:chOff x="0" y="0"/>
          <a:chExt cx="0" cy="0"/>
        </a:xfrm>
      </p:grpSpPr>
      <p:sp>
        <p:nvSpPr>
          <p:cNvPr id="470" name="Google Shape;470;p29"/>
          <p:cNvSpPr/>
          <p:nvPr/>
        </p:nvSpPr>
        <p:spPr>
          <a:xfrm>
            <a:off x="5735984" y="2947987"/>
            <a:ext cx="5846415" cy="1571625"/>
          </a:xfrm>
          <a:prstGeom prst="roundRect">
            <a:avLst>
              <a:gd fmla="val 13333"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1" name="Google Shape;471;p29"/>
          <p:cNvSpPr/>
          <p:nvPr/>
        </p:nvSpPr>
        <p:spPr>
          <a:xfrm>
            <a:off x="5735984" y="2947987"/>
            <a:ext cx="5827500" cy="1552500"/>
          </a:xfrm>
          <a:prstGeom prst="roundRect">
            <a:avLst>
              <a:gd fmla="val 13496"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2" name="Google Shape;472;p29"/>
          <p:cNvSpPr/>
          <p:nvPr/>
        </p:nvSpPr>
        <p:spPr>
          <a:xfrm>
            <a:off x="5955059" y="3919537"/>
            <a:ext cx="5408265" cy="381000"/>
          </a:xfrm>
          <a:prstGeom prst="roundRect">
            <a:avLst>
              <a:gd fmla="val 20000" name="adj"/>
            </a:avLst>
          </a:prstGeom>
          <a:solidFill>
            <a:srgbClr val="0F172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3" name="Google Shape;473;p29"/>
          <p:cNvSpPr/>
          <p:nvPr/>
        </p:nvSpPr>
        <p:spPr>
          <a:xfrm>
            <a:off x="5735984" y="4691062"/>
            <a:ext cx="2856607" cy="704850"/>
          </a:xfrm>
          <a:prstGeom prst="roundRect">
            <a:avLst>
              <a:gd fmla="val 13513" name="adj"/>
            </a:avLst>
          </a:prstGeom>
          <a:solidFill>
            <a:srgbClr val="F0F9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900" u="none" cap="none" strike="noStrike">
              <a:solidFill>
                <a:schemeClr val="dk1"/>
              </a:solidFill>
              <a:latin typeface="Calibri"/>
              <a:ea typeface="Calibri"/>
              <a:cs typeface="Calibri"/>
              <a:sym typeface="Calibri"/>
            </a:endParaRPr>
          </a:p>
        </p:txBody>
      </p:sp>
      <p:sp>
        <p:nvSpPr>
          <p:cNvPr id="474" name="Google Shape;474;p29"/>
          <p:cNvSpPr/>
          <p:nvPr/>
        </p:nvSpPr>
        <p:spPr>
          <a:xfrm>
            <a:off x="8725941" y="4691062"/>
            <a:ext cx="2856600" cy="705000"/>
          </a:xfrm>
          <a:prstGeom prst="roundRect">
            <a:avLst>
              <a:gd fmla="val 13513" name="adj"/>
            </a:avLst>
          </a:prstGeom>
          <a:solidFill>
            <a:srgbClr val="F0F9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dk1"/>
              </a:solidFill>
              <a:latin typeface="Calibri"/>
              <a:ea typeface="Calibri"/>
              <a:cs typeface="Calibri"/>
              <a:sym typeface="Calibri"/>
            </a:endParaRPr>
          </a:p>
        </p:txBody>
      </p:sp>
      <p:pic>
        <p:nvPicPr>
          <p:cNvPr descr="image.png" id="475" name="Google Shape;475;p29"/>
          <p:cNvPicPr preferRelativeResize="0"/>
          <p:nvPr/>
        </p:nvPicPr>
        <p:blipFill rotWithShape="1">
          <a:blip r:embed="rId3">
            <a:alphaModFix/>
          </a:blip>
          <a:srcRect b="0" l="0" r="0" t="0"/>
          <a:stretch/>
        </p:blipFill>
        <p:spPr>
          <a:xfrm>
            <a:off x="609600" y="1819275"/>
            <a:ext cx="4783484" cy="4000500"/>
          </a:xfrm>
          <a:prstGeom prst="rect">
            <a:avLst/>
          </a:prstGeom>
          <a:noFill/>
          <a:ln>
            <a:noFill/>
          </a:ln>
        </p:spPr>
      </p:pic>
      <p:pic>
        <p:nvPicPr>
          <p:cNvPr descr="image.png" id="476" name="Google Shape;476;p29"/>
          <p:cNvPicPr preferRelativeResize="0"/>
          <p:nvPr/>
        </p:nvPicPr>
        <p:blipFill rotWithShape="1">
          <a:blip r:embed="rId4">
            <a:alphaModFix/>
          </a:blip>
          <a:srcRect b="0" l="0" r="0" t="0"/>
          <a:stretch/>
        </p:blipFill>
        <p:spPr>
          <a:xfrm>
            <a:off x="609600" y="1819275"/>
            <a:ext cx="4783484" cy="4000500"/>
          </a:xfrm>
          <a:prstGeom prst="rect">
            <a:avLst/>
          </a:prstGeom>
          <a:noFill/>
          <a:ln>
            <a:noFill/>
          </a:ln>
        </p:spPr>
      </p:pic>
      <p:pic>
        <p:nvPicPr>
          <p:cNvPr descr="image.png" id="477" name="Google Shape;477;p29"/>
          <p:cNvPicPr preferRelativeResize="0"/>
          <p:nvPr/>
        </p:nvPicPr>
        <p:blipFill rotWithShape="1">
          <a:blip r:embed="rId5">
            <a:alphaModFix/>
          </a:blip>
          <a:srcRect b="0" l="0" r="0" t="0"/>
          <a:stretch/>
        </p:blipFill>
        <p:spPr>
          <a:xfrm>
            <a:off x="5955059" y="3167062"/>
            <a:ext cx="361950" cy="361950"/>
          </a:xfrm>
          <a:prstGeom prst="rect">
            <a:avLst/>
          </a:prstGeom>
          <a:noFill/>
          <a:ln>
            <a:noFill/>
          </a:ln>
        </p:spPr>
      </p:pic>
      <p:pic>
        <p:nvPicPr>
          <p:cNvPr descr="image.png" id="478" name="Google Shape;478;p29"/>
          <p:cNvPicPr preferRelativeResize="0"/>
          <p:nvPr/>
        </p:nvPicPr>
        <p:blipFill rotWithShape="1">
          <a:blip r:embed="rId6">
            <a:alphaModFix/>
          </a:blip>
          <a:srcRect b="0" l="0" r="0" t="0"/>
          <a:stretch/>
        </p:blipFill>
        <p:spPr>
          <a:xfrm>
            <a:off x="6050309" y="3262312"/>
            <a:ext cx="171450" cy="171450"/>
          </a:xfrm>
          <a:prstGeom prst="rect">
            <a:avLst/>
          </a:prstGeom>
          <a:noFill/>
          <a:ln>
            <a:noFill/>
          </a:ln>
        </p:spPr>
      </p:pic>
      <p:sp>
        <p:nvSpPr>
          <p:cNvPr id="479" name="Google Shape;479;p29"/>
          <p:cNvSpPr txBox="1"/>
          <p:nvPr/>
        </p:nvSpPr>
        <p:spPr>
          <a:xfrm>
            <a:off x="958025" y="896050"/>
            <a:ext cx="4911300" cy="446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900" u="none" cap="none" strike="noStrike">
                <a:solidFill>
                  <a:srgbClr val="0F172A"/>
                </a:solidFill>
                <a:latin typeface="Plus Jakarta Sans"/>
                <a:ea typeface="Plus Jakarta Sans"/>
                <a:cs typeface="Plus Jakarta Sans"/>
                <a:sym typeface="Plus Jakarta Sans"/>
              </a:rPr>
              <a:t>DQL: Data Query Language</a:t>
            </a:r>
            <a:endParaRPr sz="1900"/>
          </a:p>
        </p:txBody>
      </p:sp>
      <p:sp>
        <p:nvSpPr>
          <p:cNvPr id="480" name="Google Shape;480;p29"/>
          <p:cNvSpPr txBox="1"/>
          <p:nvPr/>
        </p:nvSpPr>
        <p:spPr>
          <a:xfrm>
            <a:off x="5735984" y="2243137"/>
            <a:ext cx="5941665"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DQL</a:t>
            </a:r>
            <a:r>
              <a:rPr b="0" i="0" lang="en-US" sz="1350" u="none" cap="none" strike="noStrike">
                <a:solidFill>
                  <a:srgbClr val="334155"/>
                </a:solidFill>
                <a:latin typeface="Plus Jakarta Sans"/>
                <a:ea typeface="Plus Jakarta Sans"/>
                <a:cs typeface="Plus Jakarta Sans"/>
                <a:sym typeface="Plus Jakarta Sans"/>
              </a:rPr>
              <a:t> is the </a:t>
            </a:r>
            <a:r>
              <a:rPr b="1" i="0" lang="en-US" sz="1350" u="none" cap="none" strike="noStrike">
                <a:solidFill>
                  <a:srgbClr val="334155"/>
                </a:solidFill>
                <a:latin typeface="Plus Jakarta Sans"/>
                <a:ea typeface="Plus Jakarta Sans"/>
                <a:cs typeface="Plus Jakarta Sans"/>
                <a:sym typeface="Plus Jakarta Sans"/>
              </a:rPr>
              <a:t>Detective / Search Engine</a:t>
            </a:r>
            <a:r>
              <a:rPr b="0" i="0" lang="en-US" sz="1350" u="none" cap="none" strike="noStrike">
                <a:solidFill>
                  <a:srgbClr val="334155"/>
                </a:solidFill>
                <a:latin typeface="Plus Jakarta Sans"/>
                <a:ea typeface="Plus Jakarta Sans"/>
                <a:cs typeface="Plus Jakarta Sans"/>
                <a:sym typeface="Plus Jakarta Sans"/>
              </a:rPr>
              <a:t> of SQL. It reads and fetches requested data records without modifying or altering them.</a:t>
            </a:r>
            <a:endParaRPr/>
          </a:p>
        </p:txBody>
      </p:sp>
      <p:sp>
        <p:nvSpPr>
          <p:cNvPr id="481" name="Google Shape;481;p29"/>
          <p:cNvSpPr txBox="1"/>
          <p:nvPr/>
        </p:nvSpPr>
        <p:spPr>
          <a:xfrm>
            <a:off x="5955059" y="3624262"/>
            <a:ext cx="6236940" cy="1809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25" u="none" cap="none" strike="noStrike">
                <a:solidFill>
                  <a:srgbClr val="64748B"/>
                </a:solidFill>
                <a:latin typeface="Plus Jakarta Sans"/>
                <a:ea typeface="Plus Jakarta Sans"/>
                <a:cs typeface="Plus Jakarta Sans"/>
                <a:sym typeface="Plus Jakarta Sans"/>
              </a:rPr>
              <a:t>Retrieves exactly the rows and columns requested by filtering with conditions.</a:t>
            </a:r>
            <a:endParaRPr/>
          </a:p>
        </p:txBody>
      </p:sp>
      <p:sp>
        <p:nvSpPr>
          <p:cNvPr id="482" name="Google Shape;482;p29"/>
          <p:cNvSpPr txBox="1"/>
          <p:nvPr/>
        </p:nvSpPr>
        <p:spPr>
          <a:xfrm>
            <a:off x="6069359" y="4033837"/>
            <a:ext cx="5274915"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38BDF8"/>
                </a:solidFill>
                <a:latin typeface="Arial"/>
                <a:ea typeface="Arial"/>
                <a:cs typeface="Arial"/>
                <a:sym typeface="Arial"/>
              </a:rPr>
              <a:t>SELECT name, roll_no FROM students WHERE group_name = 'Royal';</a:t>
            </a:r>
            <a:endParaRPr/>
          </a:p>
        </p:txBody>
      </p:sp>
      <p:sp>
        <p:nvSpPr>
          <p:cNvPr id="483" name="Google Shape;483;p29"/>
          <p:cNvSpPr txBox="1"/>
          <p:nvPr/>
        </p:nvSpPr>
        <p:spPr>
          <a:xfrm>
            <a:off x="6431309" y="3238500"/>
            <a:ext cx="2500312" cy="2190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50" u="none" cap="none" strike="noStrike">
                <a:solidFill>
                  <a:srgbClr val="0F172A"/>
                </a:solidFill>
                <a:latin typeface="Plus Jakarta Sans"/>
                <a:ea typeface="Plus Jakarta Sans"/>
                <a:cs typeface="Plus Jakarta Sans"/>
                <a:sym typeface="Plus Jakarta Sans"/>
              </a:rPr>
              <a:t>The SELECT Command</a:t>
            </a:r>
            <a:endParaRPr/>
          </a:p>
        </p:txBody>
      </p:sp>
      <p:sp>
        <p:nvSpPr>
          <p:cNvPr id="484" name="Google Shape;484;p29"/>
          <p:cNvSpPr txBox="1"/>
          <p:nvPr/>
        </p:nvSpPr>
        <p:spPr>
          <a:xfrm>
            <a:off x="5869334" y="4805362"/>
            <a:ext cx="3237300" cy="196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75" u="none" cap="none" strike="noStrike">
                <a:solidFill>
                  <a:srgbClr val="0369A1"/>
                </a:solidFill>
                <a:latin typeface="Plus Jakarta Sans"/>
                <a:ea typeface="Plus Jakarta Sans"/>
                <a:cs typeface="Plus Jakarta Sans"/>
                <a:sym typeface="Plus Jakarta Sans"/>
              </a:rPr>
              <a:t>Zero Side Effects</a:t>
            </a:r>
            <a:endParaRPr sz="1700"/>
          </a:p>
        </p:txBody>
      </p:sp>
      <p:sp>
        <p:nvSpPr>
          <p:cNvPr id="485" name="Google Shape;485;p29"/>
          <p:cNvSpPr txBox="1"/>
          <p:nvPr/>
        </p:nvSpPr>
        <p:spPr>
          <a:xfrm>
            <a:off x="5869334" y="4976812"/>
            <a:ext cx="2685300" cy="330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75" u="none" cap="none" strike="noStrike">
                <a:solidFill>
                  <a:srgbClr val="64748B"/>
                </a:solidFill>
                <a:latin typeface="Plus Jakarta Sans"/>
                <a:ea typeface="Plus Jakarta Sans"/>
                <a:cs typeface="Plus Jakarta Sans"/>
                <a:sym typeface="Plus Jakarta Sans"/>
              </a:rPr>
              <a:t>Data is read-only; records remain unchanged.</a:t>
            </a:r>
            <a:endParaRPr sz="1500"/>
          </a:p>
        </p:txBody>
      </p:sp>
      <p:sp>
        <p:nvSpPr>
          <p:cNvPr id="486" name="Google Shape;486;p29"/>
          <p:cNvSpPr txBox="1"/>
          <p:nvPr/>
        </p:nvSpPr>
        <p:spPr>
          <a:xfrm>
            <a:off x="8859291" y="4805362"/>
            <a:ext cx="3237300" cy="180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75" u="none" cap="none" strike="noStrike">
                <a:solidFill>
                  <a:srgbClr val="0369A1"/>
                </a:solidFill>
                <a:latin typeface="Plus Jakarta Sans"/>
                <a:ea typeface="Plus Jakarta Sans"/>
                <a:cs typeface="Plus Jakarta Sans"/>
                <a:sym typeface="Plus Jakarta Sans"/>
              </a:rPr>
              <a:t>Instant Filtering</a:t>
            </a:r>
            <a:endParaRPr sz="1600"/>
          </a:p>
        </p:txBody>
      </p:sp>
      <p:sp>
        <p:nvSpPr>
          <p:cNvPr id="487" name="Google Shape;487;p29"/>
          <p:cNvSpPr txBox="1"/>
          <p:nvPr/>
        </p:nvSpPr>
        <p:spPr>
          <a:xfrm>
            <a:off x="8859291" y="4976812"/>
            <a:ext cx="3237300" cy="1809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75" u="none" cap="none" strike="noStrike">
                <a:solidFill>
                  <a:srgbClr val="64748B"/>
                </a:solidFill>
                <a:latin typeface="Plus Jakarta Sans"/>
                <a:ea typeface="Plus Jakarta Sans"/>
                <a:cs typeface="Plus Jakarta Sans"/>
                <a:sym typeface="Plus Jakarta Sans"/>
              </a:rPr>
              <a:t>Filters millions of rows in milliseconds.</a:t>
            </a:r>
            <a:endParaRPr sz="1600"/>
          </a:p>
        </p:txBody>
      </p:sp>
      <p:sp>
        <p:nvSpPr>
          <p:cNvPr id="488" name="Google Shape;488;p29"/>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92" name="Shape 492"/>
        <p:cNvGrpSpPr/>
        <p:nvPr/>
      </p:nvGrpSpPr>
      <p:grpSpPr>
        <a:xfrm>
          <a:off x="0" y="0"/>
          <a:ext cx="0" cy="0"/>
          <a:chOff x="0" y="0"/>
          <a:chExt cx="0" cy="0"/>
        </a:xfrm>
      </p:grpSpPr>
      <p:sp>
        <p:nvSpPr>
          <p:cNvPr id="493" name="Google Shape;493;p30"/>
          <p:cNvSpPr/>
          <p:nvPr/>
        </p:nvSpPr>
        <p:spPr>
          <a:xfrm>
            <a:off x="609600" y="5219700"/>
            <a:ext cx="5846415" cy="571500"/>
          </a:xfrm>
          <a:prstGeom prst="roundRect">
            <a:avLst>
              <a:gd fmla="val 16666" name="adj"/>
            </a:avLst>
          </a:prstGeom>
          <a:solidFill>
            <a:srgbClr val="F5F3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4" name="Google Shape;494;p30"/>
          <p:cNvSpPr/>
          <p:nvPr/>
        </p:nvSpPr>
        <p:spPr>
          <a:xfrm>
            <a:off x="609600" y="2809875"/>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5" name="Google Shape;495;p30"/>
          <p:cNvSpPr/>
          <p:nvPr/>
        </p:nvSpPr>
        <p:spPr>
          <a:xfrm>
            <a:off x="609600" y="3600450"/>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6" name="Google Shape;496;p30"/>
          <p:cNvSpPr/>
          <p:nvPr/>
        </p:nvSpPr>
        <p:spPr>
          <a:xfrm>
            <a:off x="609600" y="4391025"/>
            <a:ext cx="5846415" cy="676275"/>
          </a:xfrm>
          <a:prstGeom prst="roundRect">
            <a:avLst>
              <a:gd fmla="val 30985" name="adj"/>
            </a:avLst>
          </a:prstGeom>
          <a:solidFill>
            <a:srgbClr val="FAFBFD"/>
          </a:solidFill>
          <a:ln cap="flat" cmpd="sng" w="9525">
            <a:solidFill>
              <a:srgbClr val="FEFEFE"/>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7" name="Google Shape;497;p30"/>
          <p:cNvSpPr/>
          <p:nvPr/>
        </p:nvSpPr>
        <p:spPr>
          <a:xfrm>
            <a:off x="609600" y="5219700"/>
            <a:ext cx="38100" cy="571500"/>
          </a:xfrm>
          <a:prstGeom prst="rect">
            <a:avLst/>
          </a:prstGeom>
          <a:solidFill>
            <a:srgbClr val="8B5CF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8" name="Google Shape;498;p30"/>
          <p:cNvSpPr/>
          <p:nvPr/>
        </p:nvSpPr>
        <p:spPr>
          <a:xfrm>
            <a:off x="609600" y="2809875"/>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99" name="Google Shape;499;p30"/>
          <p:cNvSpPr/>
          <p:nvPr/>
        </p:nvSpPr>
        <p:spPr>
          <a:xfrm>
            <a:off x="609600" y="3600450"/>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0" name="Google Shape;500;p30"/>
          <p:cNvSpPr/>
          <p:nvPr/>
        </p:nvSpPr>
        <p:spPr>
          <a:xfrm>
            <a:off x="609600" y="4391025"/>
            <a:ext cx="5827366" cy="657225"/>
          </a:xfrm>
          <a:prstGeom prst="roundRect">
            <a:avLst>
              <a:gd fmla="val 31884"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501" name="Google Shape;501;p30"/>
          <p:cNvPicPr preferRelativeResize="0"/>
          <p:nvPr/>
        </p:nvPicPr>
        <p:blipFill rotWithShape="1">
          <a:blip r:embed="rId3">
            <a:alphaModFix/>
          </a:blip>
          <a:srcRect b="0" l="0" r="0" t="0"/>
          <a:stretch/>
        </p:blipFill>
        <p:spPr>
          <a:xfrm>
            <a:off x="6798915" y="1819275"/>
            <a:ext cx="4783484" cy="4000500"/>
          </a:xfrm>
          <a:prstGeom prst="rect">
            <a:avLst/>
          </a:prstGeom>
          <a:noFill/>
          <a:ln>
            <a:noFill/>
          </a:ln>
        </p:spPr>
      </p:pic>
      <p:pic>
        <p:nvPicPr>
          <p:cNvPr descr="image.png" id="502" name="Google Shape;502;p30"/>
          <p:cNvPicPr preferRelativeResize="0"/>
          <p:nvPr/>
        </p:nvPicPr>
        <p:blipFill rotWithShape="1">
          <a:blip r:embed="rId4">
            <a:alphaModFix/>
          </a:blip>
          <a:srcRect b="0" l="0" r="0" t="0"/>
          <a:stretch/>
        </p:blipFill>
        <p:spPr>
          <a:xfrm>
            <a:off x="6798915" y="1819275"/>
            <a:ext cx="4783484" cy="4000500"/>
          </a:xfrm>
          <a:prstGeom prst="rect">
            <a:avLst/>
          </a:prstGeom>
          <a:noFill/>
          <a:ln>
            <a:noFill/>
          </a:ln>
        </p:spPr>
      </p:pic>
      <p:pic>
        <p:nvPicPr>
          <p:cNvPr descr="image.png" id="503" name="Google Shape;503;p30"/>
          <p:cNvPicPr preferRelativeResize="0"/>
          <p:nvPr/>
        </p:nvPicPr>
        <p:blipFill rotWithShape="1">
          <a:blip r:embed="rId5">
            <a:alphaModFix/>
          </a:blip>
          <a:srcRect b="0" l="0" r="0" t="0"/>
          <a:stretch/>
        </p:blipFill>
        <p:spPr>
          <a:xfrm>
            <a:off x="790575" y="2976562"/>
            <a:ext cx="342900" cy="342900"/>
          </a:xfrm>
          <a:prstGeom prst="rect">
            <a:avLst/>
          </a:prstGeom>
          <a:noFill/>
          <a:ln>
            <a:noFill/>
          </a:ln>
        </p:spPr>
      </p:pic>
      <p:pic>
        <p:nvPicPr>
          <p:cNvPr descr="image.png" id="504" name="Google Shape;504;p30"/>
          <p:cNvPicPr preferRelativeResize="0"/>
          <p:nvPr/>
        </p:nvPicPr>
        <p:blipFill rotWithShape="1">
          <a:blip r:embed="rId6">
            <a:alphaModFix/>
          </a:blip>
          <a:srcRect b="0" l="0" r="0" t="0"/>
          <a:stretch/>
        </p:blipFill>
        <p:spPr>
          <a:xfrm>
            <a:off x="790575" y="3767137"/>
            <a:ext cx="342900" cy="342900"/>
          </a:xfrm>
          <a:prstGeom prst="rect">
            <a:avLst/>
          </a:prstGeom>
          <a:noFill/>
          <a:ln>
            <a:noFill/>
          </a:ln>
        </p:spPr>
      </p:pic>
      <p:pic>
        <p:nvPicPr>
          <p:cNvPr descr="image.png" id="505" name="Google Shape;505;p30"/>
          <p:cNvPicPr preferRelativeResize="0"/>
          <p:nvPr/>
        </p:nvPicPr>
        <p:blipFill rotWithShape="1">
          <a:blip r:embed="rId7">
            <a:alphaModFix/>
          </a:blip>
          <a:srcRect b="0" l="0" r="0" t="0"/>
          <a:stretch/>
        </p:blipFill>
        <p:spPr>
          <a:xfrm>
            <a:off x="790575" y="4557712"/>
            <a:ext cx="342900" cy="342900"/>
          </a:xfrm>
          <a:prstGeom prst="rect">
            <a:avLst/>
          </a:prstGeom>
          <a:noFill/>
          <a:ln>
            <a:noFill/>
          </a:ln>
        </p:spPr>
      </p:pic>
      <p:pic>
        <p:nvPicPr>
          <p:cNvPr descr="image.png" id="506" name="Google Shape;506;p30"/>
          <p:cNvPicPr preferRelativeResize="0"/>
          <p:nvPr/>
        </p:nvPicPr>
        <p:blipFill rotWithShape="1">
          <a:blip r:embed="rId8">
            <a:alphaModFix/>
          </a:blip>
          <a:srcRect b="0" l="0" r="0" t="0"/>
          <a:stretch/>
        </p:blipFill>
        <p:spPr>
          <a:xfrm>
            <a:off x="800100" y="5362575"/>
            <a:ext cx="171450" cy="133350"/>
          </a:xfrm>
          <a:prstGeom prst="rect">
            <a:avLst/>
          </a:prstGeom>
          <a:noFill/>
          <a:ln>
            <a:noFill/>
          </a:ln>
        </p:spPr>
      </p:pic>
      <p:pic>
        <p:nvPicPr>
          <p:cNvPr descr="image.png" id="507" name="Google Shape;507;p30"/>
          <p:cNvPicPr preferRelativeResize="0"/>
          <p:nvPr/>
        </p:nvPicPr>
        <p:blipFill rotWithShape="1">
          <a:blip r:embed="rId9">
            <a:alphaModFix/>
          </a:blip>
          <a:srcRect b="0" l="0" r="0" t="0"/>
          <a:stretch/>
        </p:blipFill>
        <p:spPr>
          <a:xfrm>
            <a:off x="885825" y="3071812"/>
            <a:ext cx="152400" cy="152400"/>
          </a:xfrm>
          <a:prstGeom prst="rect">
            <a:avLst/>
          </a:prstGeom>
          <a:noFill/>
          <a:ln>
            <a:noFill/>
          </a:ln>
        </p:spPr>
      </p:pic>
      <p:pic>
        <p:nvPicPr>
          <p:cNvPr descr="image.png" id="508" name="Google Shape;508;p30"/>
          <p:cNvPicPr preferRelativeResize="0"/>
          <p:nvPr/>
        </p:nvPicPr>
        <p:blipFill rotWithShape="1">
          <a:blip r:embed="rId10">
            <a:alphaModFix/>
          </a:blip>
          <a:srcRect b="0" l="0" r="0" t="0"/>
          <a:stretch/>
        </p:blipFill>
        <p:spPr>
          <a:xfrm>
            <a:off x="885825" y="3862387"/>
            <a:ext cx="152400" cy="152400"/>
          </a:xfrm>
          <a:prstGeom prst="rect">
            <a:avLst/>
          </a:prstGeom>
          <a:noFill/>
          <a:ln>
            <a:noFill/>
          </a:ln>
        </p:spPr>
      </p:pic>
      <p:pic>
        <p:nvPicPr>
          <p:cNvPr descr="image.png" id="509" name="Google Shape;509;p30"/>
          <p:cNvPicPr preferRelativeResize="0"/>
          <p:nvPr/>
        </p:nvPicPr>
        <p:blipFill rotWithShape="1">
          <a:blip r:embed="rId11">
            <a:alphaModFix/>
          </a:blip>
          <a:srcRect b="0" l="0" r="0" t="0"/>
          <a:stretch/>
        </p:blipFill>
        <p:spPr>
          <a:xfrm>
            <a:off x="895350" y="4652962"/>
            <a:ext cx="133350" cy="152400"/>
          </a:xfrm>
          <a:prstGeom prst="rect">
            <a:avLst/>
          </a:prstGeom>
          <a:noFill/>
          <a:ln>
            <a:noFill/>
          </a:ln>
        </p:spPr>
      </p:pic>
      <p:sp>
        <p:nvSpPr>
          <p:cNvPr id="510" name="Google Shape;510;p30"/>
          <p:cNvSpPr txBox="1"/>
          <p:nvPr/>
        </p:nvSpPr>
        <p:spPr>
          <a:xfrm>
            <a:off x="630600" y="933725"/>
            <a:ext cx="6510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TCL: Transaction Control Language</a:t>
            </a:r>
            <a:endParaRPr sz="2000"/>
          </a:p>
        </p:txBody>
      </p:sp>
      <p:sp>
        <p:nvSpPr>
          <p:cNvPr id="511" name="Google Shape;511;p30"/>
          <p:cNvSpPr txBox="1"/>
          <p:nvPr/>
        </p:nvSpPr>
        <p:spPr>
          <a:xfrm>
            <a:off x="609600" y="1847850"/>
            <a:ext cx="5941665" cy="7715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350" u="none" cap="none" strike="noStrike">
                <a:solidFill>
                  <a:srgbClr val="334155"/>
                </a:solidFill>
                <a:latin typeface="Plus Jakarta Sans"/>
                <a:ea typeface="Plus Jakarta Sans"/>
                <a:cs typeface="Plus Jakarta Sans"/>
                <a:sym typeface="Plus Jakarta Sans"/>
              </a:rPr>
              <a:t>TCL</a:t>
            </a:r>
            <a:r>
              <a:rPr b="0" i="0" lang="en-US" sz="1350" u="none" cap="none" strike="noStrike">
                <a:solidFill>
                  <a:srgbClr val="334155"/>
                </a:solidFill>
                <a:latin typeface="Plus Jakarta Sans"/>
                <a:ea typeface="Plus Jakarta Sans"/>
                <a:cs typeface="Plus Jakarta Sans"/>
                <a:sym typeface="Plus Jakarta Sans"/>
              </a:rPr>
              <a:t> acts as the </a:t>
            </a:r>
            <a:r>
              <a:rPr b="1" i="0" lang="en-US" sz="1350" u="none" cap="none" strike="noStrike">
                <a:solidFill>
                  <a:srgbClr val="334155"/>
                </a:solidFill>
                <a:latin typeface="Plus Jakarta Sans"/>
                <a:ea typeface="Plus Jakarta Sans"/>
                <a:cs typeface="Plus Jakarta Sans"/>
                <a:sym typeface="Plus Jakarta Sans"/>
              </a:rPr>
              <a:t>Safety Net &amp; Checkpoint Manager</a:t>
            </a:r>
            <a:r>
              <a:rPr b="0" i="0" lang="en-US" sz="1350" u="none" cap="none" strike="noStrike">
                <a:solidFill>
                  <a:srgbClr val="334155"/>
                </a:solidFill>
                <a:latin typeface="Plus Jakarta Sans"/>
                <a:ea typeface="Plus Jakarta Sans"/>
                <a:cs typeface="Plus Jakarta Sans"/>
                <a:sym typeface="Plus Jakarta Sans"/>
              </a:rPr>
              <a:t> for database transactions, ensuring ACID compliance during online payments or multi-step operations.</a:t>
            </a:r>
            <a:endParaRPr/>
          </a:p>
        </p:txBody>
      </p:sp>
      <p:sp>
        <p:nvSpPr>
          <p:cNvPr id="512" name="Google Shape;512;p30"/>
          <p:cNvSpPr txBox="1"/>
          <p:nvPr/>
        </p:nvSpPr>
        <p:spPr>
          <a:xfrm>
            <a:off x="800100" y="5334000"/>
            <a:ext cx="5598765" cy="342900"/>
          </a:xfrm>
          <a:prstGeom prst="rect">
            <a:avLst/>
          </a:prstGeom>
          <a:noFill/>
          <a:ln>
            <a:noFill/>
          </a:ln>
        </p:spPr>
        <p:txBody>
          <a:bodyPr anchorCtr="0" anchor="t" bIns="0" lIns="228600" spcFirstLastPara="1" rIns="0" wrap="square" tIns="0">
            <a:spAutoFit/>
          </a:bodyPr>
          <a:lstStyle/>
          <a:p>
            <a:pPr indent="0" lvl="0" marL="0" marR="0" rtl="0" algn="l">
              <a:spcBef>
                <a:spcPts val="0"/>
              </a:spcBef>
              <a:spcAft>
                <a:spcPts val="0"/>
              </a:spcAft>
              <a:buNone/>
            </a:pPr>
            <a:r>
              <a:rPr b="1" i="0" lang="en-US" sz="1050" u="none" cap="none" strike="noStrike">
                <a:solidFill>
                  <a:srgbClr val="5B21B6"/>
                </a:solidFill>
                <a:latin typeface="Plus Jakarta Sans"/>
                <a:ea typeface="Plus Jakarta Sans"/>
                <a:cs typeface="Plus Jakarta Sans"/>
                <a:sym typeface="Plus Jakarta Sans"/>
              </a:rPr>
              <a:t>UPI Example: If money is deducted from Account A but Account B fails to receive it, ROLLBACK automatically restores the balance.</a:t>
            </a:r>
            <a:endParaRPr/>
          </a:p>
        </p:txBody>
      </p:sp>
      <p:sp>
        <p:nvSpPr>
          <p:cNvPr id="513" name="Google Shape;513;p30"/>
          <p:cNvSpPr txBox="1"/>
          <p:nvPr/>
        </p:nvSpPr>
        <p:spPr>
          <a:xfrm>
            <a:off x="1266825" y="2952750"/>
            <a:ext cx="5238154"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COMMIT</a:t>
            </a:r>
            <a:endParaRPr/>
          </a:p>
        </p:txBody>
      </p:sp>
      <p:sp>
        <p:nvSpPr>
          <p:cNvPr id="514" name="Google Shape;514;p30"/>
          <p:cNvSpPr txBox="1"/>
          <p:nvPr/>
        </p:nvSpPr>
        <p:spPr>
          <a:xfrm>
            <a:off x="1266825" y="3171825"/>
            <a:ext cx="4988718"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Permanently writes and saves all transaction changes to storage.</a:t>
            </a:r>
            <a:endParaRPr/>
          </a:p>
        </p:txBody>
      </p:sp>
      <p:sp>
        <p:nvSpPr>
          <p:cNvPr id="515" name="Google Shape;515;p30"/>
          <p:cNvSpPr txBox="1"/>
          <p:nvPr/>
        </p:nvSpPr>
        <p:spPr>
          <a:xfrm>
            <a:off x="1266825" y="3743325"/>
            <a:ext cx="5088135"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ROLLBACK</a:t>
            </a:r>
            <a:endParaRPr/>
          </a:p>
        </p:txBody>
      </p:sp>
      <p:sp>
        <p:nvSpPr>
          <p:cNvPr id="516" name="Google Shape;516;p30"/>
          <p:cNvSpPr txBox="1"/>
          <p:nvPr/>
        </p:nvSpPr>
        <p:spPr>
          <a:xfrm>
            <a:off x="1266825" y="3962400"/>
            <a:ext cx="4845843"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Undoes changes if an error or crash occurs before completion.</a:t>
            </a:r>
            <a:endParaRPr/>
          </a:p>
        </p:txBody>
      </p:sp>
      <p:sp>
        <p:nvSpPr>
          <p:cNvPr id="517" name="Google Shape;517;p30"/>
          <p:cNvSpPr txBox="1"/>
          <p:nvPr/>
        </p:nvSpPr>
        <p:spPr>
          <a:xfrm>
            <a:off x="1266825" y="4533900"/>
            <a:ext cx="5975746" cy="2000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0F172A"/>
                </a:solidFill>
                <a:latin typeface="Plus Jakarta Sans"/>
                <a:ea typeface="Plus Jakarta Sans"/>
                <a:cs typeface="Plus Jakarta Sans"/>
                <a:sym typeface="Plus Jakarta Sans"/>
              </a:rPr>
              <a:t>SAVEPOINT</a:t>
            </a:r>
            <a:endParaRPr/>
          </a:p>
        </p:txBody>
      </p:sp>
      <p:sp>
        <p:nvSpPr>
          <p:cNvPr id="518" name="Google Shape;518;p30"/>
          <p:cNvSpPr txBox="1"/>
          <p:nvPr/>
        </p:nvSpPr>
        <p:spPr>
          <a:xfrm>
            <a:off x="1266825" y="4752975"/>
            <a:ext cx="5691187" cy="171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50" u="none" cap="none" strike="noStrike">
                <a:solidFill>
                  <a:srgbClr val="64748B"/>
                </a:solidFill>
                <a:latin typeface="Plus Jakarta Sans"/>
                <a:ea typeface="Plus Jakarta Sans"/>
                <a:cs typeface="Plus Jakarta Sans"/>
                <a:sym typeface="Plus Jakarta Sans"/>
              </a:rPr>
              <a:t>Sets temporary checkpoints to allow partial rollback within complex tasks.</a:t>
            </a:r>
            <a:endParaRPr/>
          </a:p>
        </p:txBody>
      </p:sp>
      <p:sp>
        <p:nvSpPr>
          <p:cNvPr id="519" name="Google Shape;519;p30"/>
          <p:cNvSpPr txBox="1"/>
          <p:nvPr/>
        </p:nvSpPr>
        <p:spPr>
          <a:xfrm>
            <a:off x="609600" y="6334125"/>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23" name="Shape 523"/>
        <p:cNvGrpSpPr/>
        <p:nvPr/>
      </p:nvGrpSpPr>
      <p:grpSpPr>
        <a:xfrm>
          <a:off x="0" y="0"/>
          <a:ext cx="0" cy="0"/>
          <a:chOff x="0" y="0"/>
          <a:chExt cx="0" cy="0"/>
        </a:xfrm>
      </p:grpSpPr>
      <p:sp>
        <p:nvSpPr>
          <p:cNvPr id="524" name="Google Shape;524;p31"/>
          <p:cNvSpPr/>
          <p:nvPr/>
        </p:nvSpPr>
        <p:spPr>
          <a:xfrm>
            <a:off x="609600" y="2624137"/>
            <a:ext cx="10972800" cy="2428875"/>
          </a:xfrm>
          <a:prstGeom prst="roundRect">
            <a:avLst>
              <a:gd fmla="val 8627" name="adj"/>
            </a:avLst>
          </a:prstGeom>
          <a:solidFill>
            <a:srgbClr val="FBFCFE"/>
          </a:solidFill>
          <a:ln cap="flat" cmpd="sng" w="9525">
            <a:solidFill>
              <a:srgbClr val="FEFF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5" name="Google Shape;525;p31"/>
          <p:cNvSpPr/>
          <p:nvPr/>
        </p:nvSpPr>
        <p:spPr>
          <a:xfrm>
            <a:off x="609600" y="2624137"/>
            <a:ext cx="10953750" cy="2409825"/>
          </a:xfrm>
          <a:prstGeom prst="roundRect">
            <a:avLst>
              <a:gd fmla="val 8695" name="adj"/>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526" name="Google Shape;526;p31"/>
          <p:cNvGraphicFramePr/>
          <p:nvPr/>
        </p:nvGraphicFramePr>
        <p:xfrm>
          <a:off x="619125" y="2633662"/>
          <a:ext cx="3000000" cy="3000000"/>
        </p:xfrm>
        <a:graphic>
          <a:graphicData uri="http://schemas.openxmlformats.org/drawingml/2006/table">
            <a:tbl>
              <a:tblPr>
                <a:noFill/>
                <a:tableStyleId>{B912B96A-5AAA-43CE-870F-069EBCF6ED0E}</a:tableStyleId>
              </a:tblPr>
              <a:tblGrid>
                <a:gridCol w="2692750"/>
                <a:gridCol w="3970725"/>
                <a:gridCol w="4290275"/>
              </a:tblGrid>
              <a:tr h="481975">
                <a:tc>
                  <a:txBody>
                    <a:bodyPr/>
                    <a:lstStyle/>
                    <a:p>
                      <a:pPr indent="0" lvl="0" marL="0" marR="0" rtl="0" algn="l">
                        <a:spcBef>
                          <a:spcPts val="0"/>
                        </a:spcBef>
                        <a:spcAft>
                          <a:spcPts val="0"/>
                        </a:spcAft>
                        <a:buNone/>
                      </a:pPr>
                      <a:r>
                        <a:rPr b="1" i="0" lang="en-US" sz="1200" u="none" cap="none" strike="noStrike">
                          <a:solidFill>
                            <a:srgbClr val="FFFFFF"/>
                          </a:solidFill>
                          <a:latin typeface="Plus Jakarta Sans"/>
                          <a:ea typeface="Plus Jakarta Sans"/>
                          <a:cs typeface="Plus Jakarta Sans"/>
                          <a:sym typeface="Plus Jakarta Sans"/>
                        </a:rPr>
                        <a:t>Feature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1B4B"/>
                    </a:solidFill>
                  </a:tcPr>
                </a:tc>
                <a:tc>
                  <a:txBody>
                    <a:bodyPr/>
                    <a:lstStyle/>
                    <a:p>
                      <a:pPr indent="0" lvl="0" marL="0" marR="0" rtl="0" algn="l">
                        <a:spcBef>
                          <a:spcPts val="0"/>
                        </a:spcBef>
                        <a:spcAft>
                          <a:spcPts val="0"/>
                        </a:spcAft>
                        <a:buNone/>
                      </a:pPr>
                      <a:r>
                        <a:rPr b="1" i="0" lang="en-US" sz="1200" u="none" cap="none" strike="noStrike">
                          <a:solidFill>
                            <a:srgbClr val="38BDF8"/>
                          </a:solidFill>
                          <a:latin typeface="Plus Jakarta Sans"/>
                          <a:ea typeface="Plus Jakarta Sans"/>
                          <a:cs typeface="Plus Jakarta Sans"/>
                          <a:sym typeface="Plus Jakarta Sans"/>
                        </a:rPr>
                        <a:t>Structured Database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1B4B"/>
                    </a:solidFill>
                  </a:tcPr>
                </a:tc>
                <a:tc>
                  <a:txBody>
                    <a:bodyPr/>
                    <a:lstStyle/>
                    <a:p>
                      <a:pPr indent="0" lvl="0" marL="0" marR="0" rtl="0" algn="l">
                        <a:spcBef>
                          <a:spcPts val="0"/>
                        </a:spcBef>
                        <a:spcAft>
                          <a:spcPts val="0"/>
                        </a:spcAft>
                        <a:buNone/>
                      </a:pPr>
                      <a:r>
                        <a:rPr b="1" i="0" lang="en-US" sz="1200" u="none" cap="none" strike="noStrike">
                          <a:solidFill>
                            <a:srgbClr val="F472B6"/>
                          </a:solidFill>
                          <a:latin typeface="Plus Jakarta Sans"/>
                          <a:ea typeface="Plus Jakarta Sans"/>
                          <a:cs typeface="Plus Jakarta Sans"/>
                          <a:sym typeface="Plus Jakarta Sans"/>
                        </a:rPr>
                        <a:t>Unstructured Database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E1B4B"/>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Data Layout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Tables (Rows &amp; Columns)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Files, Videos, Blobs, Texts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Schema Freedom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Strict &amp; Fixed upfront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Flexible / Dynamic schema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Searching Speed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Extremely fast via SQL Index</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c>
                  <a:txBody>
                    <a:bodyPr/>
                    <a:lstStyle/>
                    <a:p>
                      <a:pPr indent="0" lvl="0" marL="0" marR="0" rtl="0" algn="l">
                        <a:spcBef>
                          <a:spcPts val="0"/>
                        </a:spcBef>
                        <a:spcAft>
                          <a:spcPts val="0"/>
                        </a:spcAft>
                        <a:buNone/>
                      </a:pPr>
                      <a:r>
                        <a:rPr b="0" i="0" lang="en-US" sz="1200" u="none" cap="none" strike="noStrike">
                          <a:solidFill>
                            <a:srgbClr val="475569"/>
                          </a:solidFill>
                          <a:latin typeface="Plus Jakarta Sans"/>
                          <a:ea typeface="Plus Jakarta Sans"/>
                          <a:cs typeface="Plus Jakarta Sans"/>
                          <a:sym typeface="Plus Jakarta Sans"/>
                        </a:rPr>
                        <a:t>Uses AI &amp; Vector Embeddings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BFCFE"/>
                    </a:solidFill>
                  </a:tcPr>
                </a:tc>
              </a:tr>
              <a:tr h="481975">
                <a:tc>
                  <a:txBody>
                    <a:bodyPr/>
                    <a:lstStyle/>
                    <a:p>
                      <a:pPr indent="0" lvl="0" marL="0" marR="0" rtl="0" algn="l">
                        <a:spcBef>
                          <a:spcPts val="0"/>
                        </a:spcBef>
                        <a:spcAft>
                          <a:spcPts val="0"/>
                        </a:spcAft>
                        <a:buNone/>
                      </a:pPr>
                      <a:r>
                        <a:rPr b="1" i="0" lang="en-US" sz="1200" u="none" cap="none" strike="noStrike">
                          <a:solidFill>
                            <a:srgbClr val="1E293B"/>
                          </a:solidFill>
                          <a:latin typeface="Plus Jakarta Sans"/>
                          <a:ea typeface="Plus Jakarta Sans"/>
                          <a:cs typeface="Plus Jakarta Sans"/>
                          <a:sym typeface="Plus Jakarta Sans"/>
                        </a:rPr>
                        <a:t>Popular Systems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200" u="none" cap="none" strike="noStrike">
                          <a:solidFill>
                            <a:srgbClr val="4F46E5"/>
                          </a:solidFill>
                          <a:latin typeface="Plus Jakarta Sans"/>
                          <a:ea typeface="Plus Jakarta Sans"/>
                          <a:cs typeface="Plus Jakarta Sans"/>
                          <a:sym typeface="Plus Jakarta Sans"/>
                        </a:rPr>
                        <a:t>PostgreSQL, MySQL, Oracle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l">
                        <a:spcBef>
                          <a:spcPts val="0"/>
                        </a:spcBef>
                        <a:spcAft>
                          <a:spcPts val="0"/>
                        </a:spcAft>
                        <a:buNone/>
                      </a:pPr>
                      <a:r>
                        <a:rPr b="1" i="0" lang="en-US" sz="1200" u="none" cap="none" strike="noStrike">
                          <a:solidFill>
                            <a:srgbClr val="DB2777"/>
                          </a:solidFill>
                          <a:latin typeface="Plus Jakarta Sans"/>
                          <a:ea typeface="Plus Jakarta Sans"/>
                          <a:cs typeface="Plus Jakarta Sans"/>
                          <a:sym typeface="Plus Jakarta Sans"/>
                        </a:rPr>
                        <a:t>MongoDB, Hadoop, Amazon S3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bl>
          </a:graphicData>
        </a:graphic>
      </p:graphicFrame>
      <p:sp>
        <p:nvSpPr>
          <p:cNvPr id="527" name="Google Shape;527;p31"/>
          <p:cNvSpPr txBox="1"/>
          <p:nvPr/>
        </p:nvSpPr>
        <p:spPr>
          <a:xfrm>
            <a:off x="3092350" y="1103975"/>
            <a:ext cx="5667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F172A"/>
                </a:solidFill>
                <a:latin typeface="Plus Jakarta Sans"/>
                <a:ea typeface="Plus Jakarta Sans"/>
                <a:cs typeface="Plus Jakarta Sans"/>
                <a:sym typeface="Plus Jakarta Sans"/>
              </a:rPr>
              <a:t>At a Glance: Key Comparisons</a:t>
            </a:r>
            <a:endParaRPr sz="2000"/>
          </a:p>
        </p:txBody>
      </p:sp>
      <p:sp>
        <p:nvSpPr>
          <p:cNvPr id="528" name="Google Shape;528;p31"/>
          <p:cNvSpPr txBox="1"/>
          <p:nvPr/>
        </p:nvSpPr>
        <p:spPr>
          <a:xfrm>
            <a:off x="9616275" y="6204300"/>
            <a:ext cx="2299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Source - geeksforgeeks.org</a:t>
            </a:r>
            <a:endParaRPr sz="1500">
              <a:solidFill>
                <a:schemeClr val="dk1"/>
              </a:solidFill>
              <a:latin typeface="Calibri"/>
              <a:ea typeface="Calibri"/>
              <a:cs typeface="Calibri"/>
              <a:sym typeface="Calibri"/>
            </a:endParaRPr>
          </a:p>
        </p:txBody>
      </p:sp>
      <p:cxnSp>
        <p:nvCxnSpPr>
          <p:cNvPr id="529" name="Google Shape;529;p31"/>
          <p:cNvCxnSpPr/>
          <p:nvPr/>
        </p:nvCxnSpPr>
        <p:spPr>
          <a:xfrm flipH="1" rot="10800000">
            <a:off x="3092350" y="1748850"/>
            <a:ext cx="5480700" cy="15600"/>
          </a:xfrm>
          <a:prstGeom prst="straightConnector1">
            <a:avLst/>
          </a:prstGeom>
          <a:noFill/>
          <a:ln cap="flat" cmpd="sng" w="9525">
            <a:solidFill>
              <a:schemeClr val="dk2"/>
            </a:solidFill>
            <a:prstDash val="solid"/>
            <a:round/>
            <a:headEnd len="med" w="med" type="none"/>
            <a:tailEnd len="med" w="med" type="none"/>
          </a:ln>
        </p:spPr>
      </p:cxnSp>
      <p:sp>
        <p:nvSpPr>
          <p:cNvPr id="530" name="Google Shape;530;p31"/>
          <p:cNvSpPr txBox="1"/>
          <p:nvPr/>
        </p:nvSpPr>
        <p:spPr>
          <a:xfrm>
            <a:off x="346300" y="6204300"/>
            <a:ext cx="109728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US" sz="1000">
                <a:solidFill>
                  <a:srgbClr val="64748B"/>
                </a:solidFill>
                <a:latin typeface="Plus Jakarta Sans SemiBold"/>
                <a:ea typeface="Plus Jakarta Sans SemiBold"/>
                <a:cs typeface="Plus Jakarta Sans SemiBold"/>
                <a:sym typeface="Plus Jakarta Sans SemiBold"/>
              </a:rPr>
              <a:t>D. Y. PATIL INSTITUTE OF MANAGEMENT &amp; TECHNOLOGY | REPRESENTED BY ROYAL GROUP</a:t>
            </a:r>
            <a:endParaRPr b="0" sz="1000">
              <a:solidFill>
                <a:srgbClr val="64748B"/>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4" name="Shape 534"/>
        <p:cNvGrpSpPr/>
        <p:nvPr/>
      </p:nvGrpSpPr>
      <p:grpSpPr>
        <a:xfrm>
          <a:off x="0" y="0"/>
          <a:ext cx="0" cy="0"/>
          <a:chOff x="0" y="0"/>
          <a:chExt cx="0" cy="0"/>
        </a:xfrm>
      </p:grpSpPr>
      <p:grpSp>
        <p:nvGrpSpPr>
          <p:cNvPr id="535" name="Google Shape;535;p32"/>
          <p:cNvGrpSpPr/>
          <p:nvPr/>
        </p:nvGrpSpPr>
        <p:grpSpPr>
          <a:xfrm>
            <a:off x="609600" y="571500"/>
            <a:ext cx="10972800" cy="1000125"/>
            <a:chOff x="0" y="0"/>
            <a:chExt cx="10972800" cy="1000125"/>
          </a:xfrm>
        </p:grpSpPr>
        <p:sp>
          <p:nvSpPr>
            <p:cNvPr id="536" name="Google Shape;536;p32"/>
            <p:cNvSpPr txBox="1"/>
            <p:nvPr/>
          </p:nvSpPr>
          <p:spPr>
            <a:xfrm>
              <a:off x="0" y="0"/>
              <a:ext cx="109728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3600">
                  <a:solidFill>
                    <a:srgbClr val="0F172A"/>
                  </a:solidFill>
                  <a:latin typeface="Space Grotesk"/>
                  <a:ea typeface="Space Grotesk"/>
                  <a:cs typeface="Space Grotesk"/>
                  <a:sym typeface="Space Grotesk"/>
                </a:rPr>
                <a:t>Questions &amp; Answers</a:t>
              </a:r>
              <a:endParaRPr b="1" sz="3600">
                <a:solidFill>
                  <a:srgbClr val="0F172A"/>
                </a:solidFill>
                <a:latin typeface="Space Grotesk"/>
                <a:ea typeface="Space Grotesk"/>
                <a:cs typeface="Space Grotesk"/>
                <a:sym typeface="Space Grotesk"/>
              </a:endParaRPr>
            </a:p>
          </p:txBody>
        </p:sp>
        <p:sp>
          <p:nvSpPr>
            <p:cNvPr id="537" name="Google Shape;537;p32"/>
            <p:cNvSpPr txBox="1"/>
            <p:nvPr/>
          </p:nvSpPr>
          <p:spPr>
            <a:xfrm>
              <a:off x="0" y="619125"/>
              <a:ext cx="10972800" cy="3810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8064A2"/>
                  </a:solidFill>
                  <a:latin typeface="Plus Jakarta Sans"/>
                  <a:ea typeface="Plus Jakarta Sans"/>
                  <a:cs typeface="Plus Jakarta Sans"/>
                  <a:sym typeface="Plus Jakarta Sans"/>
                </a:rPr>
                <a:t>Have any doubts? We are happy to clear them up!</a:t>
              </a:r>
              <a:endParaRPr b="1" sz="1600">
                <a:solidFill>
                  <a:srgbClr val="8064A2"/>
                </a:solidFill>
                <a:latin typeface="Plus Jakarta Sans"/>
                <a:ea typeface="Plus Jakarta Sans"/>
                <a:cs typeface="Plus Jakarta Sans"/>
                <a:sym typeface="Plus Jakarta Sans"/>
              </a:endParaRPr>
            </a:p>
          </p:txBody>
        </p:sp>
      </p:grpSp>
      <p:pic>
        <p:nvPicPr>
          <p:cNvPr descr="3D isometric rendering of a sleek modern Q&amp;A helpdesk concept with floating question marks, search magnifying glass, database nodes, glowing tech elements, soft shadows, minimal background, matching a light beige color scheme." id="538" name="Google Shape;538;p32"/>
          <p:cNvPicPr preferRelativeResize="0"/>
          <p:nvPr/>
        </p:nvPicPr>
        <p:blipFill rotWithShape="1">
          <a:blip r:embed="rId4">
            <a:alphaModFix/>
          </a:blip>
          <a:srcRect b="0" l="4603" r="4603" t="0"/>
          <a:stretch/>
        </p:blipFill>
        <p:spPr>
          <a:xfrm>
            <a:off x="3905250" y="1714500"/>
            <a:ext cx="4381500" cy="3619500"/>
          </a:xfrm>
          <a:prstGeom prst="roundRect">
            <a:avLst>
              <a:gd fmla="val 5789" name="adj"/>
            </a:avLst>
          </a:prstGeom>
          <a:noFill/>
          <a:ln>
            <a:noFill/>
          </a:ln>
        </p:spPr>
      </p:pic>
      <p:sp>
        <p:nvSpPr>
          <p:cNvPr id="539" name="Google Shape;539;p32"/>
          <p:cNvSpPr/>
          <p:nvPr/>
        </p:nvSpPr>
        <p:spPr>
          <a:xfrm>
            <a:off x="3905250" y="1714500"/>
            <a:ext cx="4381500" cy="3619500"/>
          </a:xfrm>
          <a:prstGeom prst="roundRect">
            <a:avLst>
              <a:gd fmla="val 5789" name="adj"/>
            </a:avLst>
          </a:prstGeom>
          <a:solidFill>
            <a:srgbClr val="000000">
              <a:alpha val="0"/>
            </a:srgbClr>
          </a:solidFill>
          <a:ln cap="flat" cmpd="sng" w="19050">
            <a:solidFill>
              <a:srgbClr val="FE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40" name="Google Shape;540;p32"/>
          <p:cNvGrpSpPr/>
          <p:nvPr/>
        </p:nvGrpSpPr>
        <p:grpSpPr>
          <a:xfrm>
            <a:off x="609600" y="5715000"/>
            <a:ext cx="10972800" cy="571500"/>
            <a:chOff x="0" y="0"/>
            <a:chExt cx="10972800" cy="571500"/>
          </a:xfrm>
        </p:grpSpPr>
        <p:sp>
          <p:nvSpPr>
            <p:cNvPr id="541" name="Google Shape;541;p32"/>
            <p:cNvSpPr/>
            <p:nvPr/>
          </p:nvSpPr>
          <p:spPr>
            <a:xfrm>
              <a:off x="0" y="0"/>
              <a:ext cx="10972800" cy="571500"/>
            </a:xfrm>
            <a:prstGeom prst="roundRect">
              <a:avLst>
                <a:gd fmla="val 20000" name="adj"/>
              </a:avLst>
            </a:prstGeom>
            <a:solidFill>
              <a:srgbClr val="FAFBFD"/>
            </a:solidFill>
            <a:ln cap="flat" cmpd="sng" w="9525">
              <a:solidFill>
                <a:srgbClr val="FEFE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42" name="Google Shape;542;p32"/>
            <p:cNvSpPr txBox="1"/>
            <p:nvPr/>
          </p:nvSpPr>
          <p:spPr>
            <a:xfrm>
              <a:off x="190500" y="171450"/>
              <a:ext cx="10591800" cy="28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E11D48"/>
                  </a:solidFill>
                  <a:latin typeface="Plus Jakarta Sans"/>
                  <a:ea typeface="Plus Jakarta Sans"/>
                  <a:cs typeface="Plus Jakarta Sans"/>
                  <a:sym typeface="Plus Jakarta Sans"/>
                </a:rPr>
                <a:t>Presented by Royal Group    •    Department of MCA    •    DY Patil Institute of Management &amp; Technology</a:t>
              </a:r>
              <a:endParaRPr b="1" sz="1600">
                <a:solidFill>
                  <a:srgbClr val="E11D48"/>
                </a:solidFill>
                <a:latin typeface="Plus Jakarta Sans"/>
                <a:ea typeface="Plus Jakarta Sans"/>
                <a:cs typeface="Plus Jakarta Sans"/>
                <a:sym typeface="Plus Jakarta Sans"/>
              </a:endParaRPr>
            </a:p>
          </p:txBody>
        </p:sp>
      </p:grpSp>
      <p:pic>
        <p:nvPicPr>
          <p:cNvPr id="543" name="Google Shape;543;p32"/>
          <p:cNvPicPr preferRelativeResize="0"/>
          <p:nvPr/>
        </p:nvPicPr>
        <p:blipFill>
          <a:blip r:embed="rId5">
            <a:alphaModFix/>
          </a:blip>
          <a:stretch>
            <a:fillRect/>
          </a:stretch>
        </p:blipFill>
        <p:spPr>
          <a:xfrm>
            <a:off x="8876375" y="1950451"/>
            <a:ext cx="2834700" cy="3171200"/>
          </a:xfrm>
          <a:prstGeom prst="rect">
            <a:avLst/>
          </a:prstGeom>
          <a:noFill/>
          <a:ln>
            <a:noFill/>
          </a:ln>
        </p:spPr>
      </p:pic>
      <p:pic>
        <p:nvPicPr>
          <p:cNvPr id="544" name="Google Shape;544;p32"/>
          <p:cNvPicPr preferRelativeResize="0"/>
          <p:nvPr/>
        </p:nvPicPr>
        <p:blipFill>
          <a:blip r:embed="rId6">
            <a:alphaModFix/>
          </a:blip>
          <a:stretch>
            <a:fillRect/>
          </a:stretch>
        </p:blipFill>
        <p:spPr>
          <a:xfrm>
            <a:off x="292950" y="1950450"/>
            <a:ext cx="3022675" cy="30226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48" name="Shape 548"/>
        <p:cNvGrpSpPr/>
        <p:nvPr/>
      </p:nvGrpSpPr>
      <p:grpSpPr>
        <a:xfrm>
          <a:off x="0" y="0"/>
          <a:ext cx="0" cy="0"/>
          <a:chOff x="0" y="0"/>
          <a:chExt cx="0" cy="0"/>
        </a:xfrm>
      </p:grpSpPr>
      <p:sp>
        <p:nvSpPr>
          <p:cNvPr id="549" name="Google Shape;549;p33"/>
          <p:cNvSpPr txBox="1"/>
          <p:nvPr/>
        </p:nvSpPr>
        <p:spPr>
          <a:xfrm>
            <a:off x="3822050" y="2831950"/>
            <a:ext cx="4173300" cy="2216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7200" u="none" cap="none" strike="noStrike">
                <a:solidFill>
                  <a:schemeClr val="dk1"/>
                </a:solidFill>
                <a:latin typeface="Space Grotesk"/>
                <a:ea typeface="Space Grotesk"/>
                <a:cs typeface="Space Grotesk"/>
                <a:sym typeface="Space Grotesk"/>
              </a:rPr>
              <a:t>Thanking You!</a:t>
            </a:r>
            <a:endParaRPr sz="5000">
              <a:solidFill>
                <a:schemeClr val="dk1"/>
              </a:solidFill>
            </a:endParaRPr>
          </a:p>
        </p:txBody>
      </p:sp>
      <p:pic>
        <p:nvPicPr>
          <p:cNvPr id="550" name="Google Shape;550;p33" title="images.jpeg"/>
          <p:cNvPicPr preferRelativeResize="0"/>
          <p:nvPr/>
        </p:nvPicPr>
        <p:blipFill>
          <a:blip r:embed="rId3">
            <a:alphaModFix/>
          </a:blip>
          <a:stretch>
            <a:fillRect/>
          </a:stretch>
        </p:blipFill>
        <p:spPr>
          <a:xfrm>
            <a:off x="3619263" y="-680075"/>
            <a:ext cx="4578875" cy="4578875"/>
          </a:xfrm>
          <a:prstGeom prst="rect">
            <a:avLst/>
          </a:prstGeom>
          <a:noFill/>
          <a:ln>
            <a:noFill/>
          </a:ln>
        </p:spPr>
      </p:pic>
      <p:sp>
        <p:nvSpPr>
          <p:cNvPr id="551" name="Google Shape;551;p33"/>
          <p:cNvSpPr txBox="1"/>
          <p:nvPr/>
        </p:nvSpPr>
        <p:spPr>
          <a:xfrm>
            <a:off x="2151625" y="5221525"/>
            <a:ext cx="118761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latin typeface="Spectral"/>
                <a:ea typeface="Spectral"/>
                <a:cs typeface="Spectral"/>
                <a:sym typeface="Spectral"/>
              </a:rPr>
              <a:t>Regards - Suraj Kumar, Anukalp Kumar, Rohit Ranjan</a:t>
            </a:r>
            <a:endParaRPr sz="2600">
              <a:solidFill>
                <a:schemeClr val="dk1"/>
              </a:solidFill>
              <a:latin typeface="Spectral"/>
              <a:ea typeface="Spectral"/>
              <a:cs typeface="Spectral"/>
              <a:sym typeface="Spectr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51"/>
                                        </p:tgtEl>
                                        <p:attrNameLst>
                                          <p:attrName>style.visibility</p:attrName>
                                        </p:attrNameLst>
                                      </p:cBhvr>
                                      <p:to>
                                        <p:strVal val="visible"/>
                                      </p:to>
                                    </p:set>
                                    <p:anim calcmode="lin" valueType="num">
                                      <p:cBhvr additive="base">
                                        <p:cTn dur="1000"/>
                                        <p:tgtEl>
                                          <p:spTgt spid="551"/>
                                        </p:tgtEl>
                                        <p:attrNameLst>
                                          <p:attrName>ppt_w</p:attrName>
                                        </p:attrNameLst>
                                      </p:cBhvr>
                                      <p:tavLst>
                                        <p:tav fmla="" tm="0">
                                          <p:val>
                                            <p:strVal val="0"/>
                                          </p:val>
                                        </p:tav>
                                        <p:tav fmla="" tm="100000">
                                          <p:val>
                                            <p:strVal val="#ppt_w"/>
                                          </p:val>
                                        </p:tav>
                                      </p:tavLst>
                                    </p:anim>
                                    <p:anim calcmode="lin" valueType="num">
                                      <p:cBhvr additive="base">
                                        <p:cTn dur="1000"/>
                                        <p:tgtEl>
                                          <p:spTgt spid="55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49"/>
                                        </p:tgtEl>
                                        <p:attrNameLst>
                                          <p:attrName>style.visibility</p:attrName>
                                        </p:attrNameLst>
                                      </p:cBhvr>
                                      <p:to>
                                        <p:strVal val="visible"/>
                                      </p:to>
                                    </p:set>
                                    <p:anim calcmode="lin" valueType="num">
                                      <p:cBhvr additive="base">
                                        <p:cTn dur="1000"/>
                                        <p:tgtEl>
                                          <p:spTgt spid="549"/>
                                        </p:tgtEl>
                                        <p:attrNameLst>
                                          <p:attrName>ppt_w</p:attrName>
                                        </p:attrNameLst>
                                      </p:cBhvr>
                                      <p:tavLst>
                                        <p:tav fmla="" tm="0">
                                          <p:val>
                                            <p:strVal val="0"/>
                                          </p:val>
                                        </p:tav>
                                        <p:tav fmla="" tm="100000">
                                          <p:val>
                                            <p:strVal val="#ppt_w"/>
                                          </p:val>
                                        </p:tav>
                                      </p:tavLst>
                                    </p:anim>
                                    <p:anim calcmode="lin" valueType="num">
                                      <p:cBhvr additive="base">
                                        <p:cTn dur="1000"/>
                                        <p:tgtEl>
                                          <p:spTgt spid="549"/>
                                        </p:tgtEl>
                                        <p:attrNameLst>
                                          <p:attrName>ppt_h</p:attrName>
                                        </p:attrNameLst>
                                      </p:cBhvr>
                                      <p:tavLst>
                                        <p:tav fmla="" tm="0">
                                          <p:val>
                                            <p:strVal val="0"/>
                                          </p:val>
                                        </p:tav>
                                        <p:tav fmla="" tm="100000">
                                          <p:val>
                                            <p:strVal val="#ppt_h"/>
                                          </p:val>
                                        </p:tav>
                                      </p:tavLst>
                                    </p:anim>
                                  </p:childTnLst>
                                </p:cTn>
                              </p:par>
                              <p:par>
                                <p:cTn fill="hold" nodeType="withEffect" presetClass="entr" presetID="2" presetSubtype="1">
                                  <p:stCondLst>
                                    <p:cond delay="0"/>
                                  </p:stCondLst>
                                  <p:childTnLst>
                                    <p:set>
                                      <p:cBhvr>
                                        <p:cTn dur="1" fill="hold">
                                          <p:stCondLst>
                                            <p:cond delay="0"/>
                                          </p:stCondLst>
                                        </p:cTn>
                                        <p:tgtEl>
                                          <p:spTgt spid="550"/>
                                        </p:tgtEl>
                                        <p:attrNameLst>
                                          <p:attrName>style.visibility</p:attrName>
                                        </p:attrNameLst>
                                      </p:cBhvr>
                                      <p:to>
                                        <p:strVal val="visible"/>
                                      </p:to>
                                    </p:set>
                                    <p:anim calcmode="lin" valueType="num">
                                      <p:cBhvr additive="base">
                                        <p:cTn dur="1000"/>
                                        <p:tgtEl>
                                          <p:spTgt spid="55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